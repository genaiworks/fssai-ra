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4006a1ee344517" /><Relationship Type="http://schemas.openxmlformats.org/officeDocument/2006/relationships/extended-properties" Target="/docProps/app.xml" Id="R8677619bd0e04de9" /><Relationship Type="http://schemas.openxmlformats.org/officeDocument/2006/relationships/officeDocument" Target="/ppt/presentation.xml" Id="R29504358643542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ec0592569d401f"/>
  </p:sldMasterIdLst>
  <p:notesMasterIdLst>
    <p:notesMasterId xmlns:r="http://schemas.openxmlformats.org/officeDocument/2006/relationships" r:id="R321495ba3c97430d"/>
  </p:notesMasterIdLst>
  <p:sldIdLst>
    <p:sldId xmlns:r="http://schemas.openxmlformats.org/officeDocument/2006/relationships" id="256" r:id="R2d20d332d7ff4fe9"/>
    <p:sldId xmlns:r="http://schemas.openxmlformats.org/officeDocument/2006/relationships" id="257" r:id="Ra8ca1215c3fa4a51"/>
    <p:sldId xmlns:r="http://schemas.openxmlformats.org/officeDocument/2006/relationships" id="258" r:id="Rd308d00a7be64bdc"/>
    <p:sldId xmlns:r="http://schemas.openxmlformats.org/officeDocument/2006/relationships" id="259" r:id="R834364a21f6044ee"/>
    <p:sldId xmlns:r="http://schemas.openxmlformats.org/officeDocument/2006/relationships" id="260" r:id="R93dce0b282a94d44"/>
    <p:sldId xmlns:r="http://schemas.openxmlformats.org/officeDocument/2006/relationships" id="261" r:id="R960c94a635e646a7"/>
    <p:sldId xmlns:r="http://schemas.openxmlformats.org/officeDocument/2006/relationships" id="262" r:id="R1bb78aaf70fa4249"/>
    <p:sldId xmlns:r="http://schemas.openxmlformats.org/officeDocument/2006/relationships" id="263" r:id="R58f591757e254be3"/>
    <p:sldId xmlns:r="http://schemas.openxmlformats.org/officeDocument/2006/relationships" id="264" r:id="Rd29303db539b4483"/>
    <p:sldId xmlns:r="http://schemas.openxmlformats.org/officeDocument/2006/relationships" id="265" r:id="R224a8c3e766341c3"/>
    <p:sldId xmlns:r="http://schemas.openxmlformats.org/officeDocument/2006/relationships" id="266" r:id="R7b37aa79929d48b6"/>
    <p:sldId xmlns:r="http://schemas.openxmlformats.org/officeDocument/2006/relationships" id="267" r:id="Rb7df62acf74146f2"/>
    <p:sldId xmlns:r="http://schemas.openxmlformats.org/officeDocument/2006/relationships" id="268" r:id="R2d3cda1c07ce43bd"/>
    <p:sldId xmlns:r="http://schemas.openxmlformats.org/officeDocument/2006/relationships" id="269" r:id="Raae284cc09f443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44b35ffca7429c" /><Relationship Type="http://schemas.openxmlformats.org/officeDocument/2006/relationships/slideMaster" Target="/ppt/slideMasters/slideMaster1.xml" Id="R48ec0592569d401f" /><Relationship Type="http://schemas.openxmlformats.org/officeDocument/2006/relationships/notesMaster" Target="/ppt/notesMasters/notesMaster1.xml" Id="R321495ba3c97430d" /><Relationship Type="http://schemas.openxmlformats.org/officeDocument/2006/relationships/presProps" Target="/ppt/presProps.xml" Id="Ra6305a080de84acc" /><Relationship Type="http://schemas.openxmlformats.org/officeDocument/2006/relationships/tableStyles" Target="/ppt/tableStyles.xml" Id="Rbe20e8041243470e" /><Relationship Type="http://schemas.openxmlformats.org/officeDocument/2006/relationships/slide" Target="/ppt/slides/slide1.xml" Id="R2d20d332d7ff4fe9" /><Relationship Type="http://schemas.openxmlformats.org/officeDocument/2006/relationships/slide" Target="/ppt/slides/slide2.xml" Id="Ra8ca1215c3fa4a51" /><Relationship Type="http://schemas.openxmlformats.org/officeDocument/2006/relationships/slide" Target="/ppt/slides/slide3.xml" Id="Rd308d00a7be64bdc" /><Relationship Type="http://schemas.openxmlformats.org/officeDocument/2006/relationships/slide" Target="/ppt/slides/slide4.xml" Id="R834364a21f6044ee" /><Relationship Type="http://schemas.openxmlformats.org/officeDocument/2006/relationships/slide" Target="/ppt/slides/slide5.xml" Id="R93dce0b282a94d44" /><Relationship Type="http://schemas.openxmlformats.org/officeDocument/2006/relationships/slide" Target="/ppt/slides/slide6.xml" Id="R960c94a635e646a7" /><Relationship Type="http://schemas.openxmlformats.org/officeDocument/2006/relationships/slide" Target="/ppt/slides/slide7.xml" Id="R1bb78aaf70fa4249" /><Relationship Type="http://schemas.openxmlformats.org/officeDocument/2006/relationships/slide" Target="/ppt/slides/slide8.xml" Id="R58f591757e254be3" /><Relationship Type="http://schemas.openxmlformats.org/officeDocument/2006/relationships/slide" Target="/ppt/slides/slide9.xml" Id="Rd29303db539b4483" /><Relationship Type="http://schemas.openxmlformats.org/officeDocument/2006/relationships/slide" Target="/ppt/slides/slide10.xml" Id="R224a8c3e766341c3" /><Relationship Type="http://schemas.openxmlformats.org/officeDocument/2006/relationships/slide" Target="/ppt/slides/slide11.xml" Id="R7b37aa79929d48b6" /><Relationship Type="http://schemas.openxmlformats.org/officeDocument/2006/relationships/slide" Target="/ppt/slides/slide12.xml" Id="Rb7df62acf74146f2" /><Relationship Type="http://schemas.openxmlformats.org/officeDocument/2006/relationships/slide" Target="/ppt/slides/slide13.xml" Id="R2d3cda1c07ce43bd" /><Relationship Type="http://schemas.openxmlformats.org/officeDocument/2006/relationships/slide" Target="/ppt/slides/slide14.xml" Id="Raae284cc09f443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914b01be694dc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e94bc1f82944de" /><Relationship Type="http://schemas.openxmlformats.org/officeDocument/2006/relationships/notesMaster" Target="/ppt/notesMasters/notesMaster1.xml" Id="R5f0a6a3207a044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049eb16f394c5d" /><Relationship Type="http://schemas.openxmlformats.org/officeDocument/2006/relationships/notesMaster" Target="/ppt/notesMasters/notesMaster1.xml" Id="R5383bfeb84be47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c998f4d30e4d79" /><Relationship Type="http://schemas.openxmlformats.org/officeDocument/2006/relationships/notesMaster" Target="/ppt/notesMasters/notesMaster1.xml" Id="Rfc7a143dfaeb41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32a097764b4a42" /><Relationship Type="http://schemas.openxmlformats.org/officeDocument/2006/relationships/notesMaster" Target="/ppt/notesMasters/notesMaster1.xml" Id="Rf586b926166f41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616a57913a4897" /><Relationship Type="http://schemas.openxmlformats.org/officeDocument/2006/relationships/notesMaster" Target="/ppt/notesMasters/notesMaster1.xml" Id="R2802cc2a454045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db88ce0cbe4c72" /><Relationship Type="http://schemas.openxmlformats.org/officeDocument/2006/relationships/notesMaster" Target="/ppt/notesMasters/notesMaster1.xml" Id="Rce077acb3a1e4d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dec4b032df4fda" /><Relationship Type="http://schemas.openxmlformats.org/officeDocument/2006/relationships/notesMaster" Target="/ppt/notesMasters/notesMaster1.xml" Id="Rc189283f6a084c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e0717a8d1a340e4" /><Relationship Type="http://schemas.openxmlformats.org/officeDocument/2006/relationships/notesMaster" Target="/ppt/notesMasters/notesMaster1.xml" Id="R4aa99d3a365b452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95b0fa5932d4c9f" /><Relationship Type="http://schemas.openxmlformats.org/officeDocument/2006/relationships/notesMaster" Target="/ppt/notesMasters/notesMaster1.xml" Id="R99ae047ec411461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f24ff1e11b04e81" /><Relationship Type="http://schemas.openxmlformats.org/officeDocument/2006/relationships/notesMaster" Target="/ppt/notesMasters/notesMaster1.xml" Id="R3a9e44bfed2f48a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9ba67be46b44031" /><Relationship Type="http://schemas.openxmlformats.org/officeDocument/2006/relationships/notesMaster" Target="/ppt/notesMasters/notesMaster1.xml" Id="R9ed615b795ad4c5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dfaa27c421c4f32" /><Relationship Type="http://schemas.openxmlformats.org/officeDocument/2006/relationships/notesMaster" Target="/ppt/notesMasters/notesMaster1.xml" Id="Ree616e596a474fd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3d80d6858dd4493" /><Relationship Type="http://schemas.openxmlformats.org/officeDocument/2006/relationships/notesMaster" Target="/ppt/notesMasters/notesMaster1.xml" Id="R93611d7e8a2c403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9a64ff3df274792" /><Relationship Type="http://schemas.openxmlformats.org/officeDocument/2006/relationships/notesMaster" Target="/ppt/notesMasters/notesMaster1.xml" Id="R6783024cec2f4d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rule, not the stack. The contribution is an authority boundary that can be stated, tested, taught, and replaced component by component.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https://unu.edu/macau/aiconf2026</a:t>
            </a:r>
          </a:p>
          <a:p xmlns:a="http://schemas.openxmlformats.org/drawingml/2006/main">
            <a:r>
              <a:t>- https://github.com/genaiworks/fssai-ra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synthetic student-support case. Do not describe it as a real breach or deployment. The student experience gives us the criteria for the system design.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https://unesdoc.unesco.org/ark:/48223/pf0000391104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avoids treating sovereignty as a binary label. Ask what powers the institution can actually exercise and demonstrate, including the ability to exit a dependency.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https://www.un.org/pact-for-the-future/en/annex-i-global-digital-compact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Stress that the model process does not hold the credential that changes the case register. A hardware diode is an optional profile with a narrow assurance claim, not a magic shield.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https://doi.org/10.6028/NIST.SP.800-207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part I want other institutions to extend. Every conformance check names the requirement it defends, linking a policy claim to code, a side effect, retained evidence, and recovery ownership.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https://github.com/genaiworks/fssai-ra/blob/v1.0.0/spec/control-contract.schema.json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approval is for a digest of one proposal. If the target, evidence, resource version, reviewer role, audience, expiry, operation, or arguments change, the approval is no longer valid.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https://github.com/genaiworks/fssai-ra/tree/v1.0.0/src/fssaira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fixture with synthetic student S-104. Show the approved digest, change the target or status, and execute. Then run the original and retry it. The expected end state is one mutation and one verifiable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https://github.com/genaiworks/fssai-ra/blob/v1.0.0/docs/DEMO.md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 every denominator. Utility is shown beside containment so a system that rejects everything cannot look safe. The test count is a reproducibility signal, not a quality score.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https://github.com/genaiworks/fssai-ra/blob/v1.0.0/evaluation/results/RESULTS.md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prompt-plus-allowlist baseline is intentionally credible: it blocks some attacks. The full architecture contained seven of seven comparison attacks and completed the same benign work. These are deterministic fixtures, not field rates.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https://github.com/genaiworks/fssai-ra/blob/v1.0.0/evaluation/results/v1.0.0-architecture-comparison.json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most reviewer-relevant evidence. The checker did not merely confirm the design; it exposed shallow tests and an adapter credential bug. We corrected both and retained regression tests.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https://github.com/genaiworks/fssai-ra/blob/v1.0.0/evaluation/results/v1.0.0-verification.json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new race harness tests an important failure mode without overclaiming. Thirty-two threads hit one approved request; exactly one mutation and one receipt were created, and all replays got that receipt. The bound excludes multiple processes and nodes.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https://github.com/genaiworks/fssai-ra/blob/v1.0.0/evaluation/results/v1.0.0-race.json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named stack makes the repository useful, but the contract is the stable interface. A replacement backend inherits no assurance claim until the conformance suite passes. Hardware isolation is a separate deployment profile.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https://github.com/genaiworks/fssai-ra</a:t>
            </a:r>
          </a:p>
          <a:p xmlns:a="http://schemas.openxmlformats.org/drawingml/2006/main">
            <a:r>
              <a:t>- https://iceberg.apache.org/</a:t>
            </a:r>
          </a:p>
          <a:p xmlns:a="http://schemas.openxmlformats.org/drawingml/2006/main">
            <a:r>
              <a:t>- https://spark.apache.org/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AI for Learning, the case is governed educational administration. For Learning for AI, the system becomes a hands-on lab and a shared capacity-building artifact. Institutions can share tests without sharing student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https://unu.edu/macau/aiconf2026</a:t>
            </a:r>
          </a:p>
          <a:p xmlns:a="http://schemas.openxmlformats.org/drawingml/2006/main">
            <a:r>
              <a:t>- https://unesdoc.unesco.org/ark:/48223/pf0000391104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adoption rule and the repository. Invite the audience to reproduce, criticize, and extend the framework. The exclusions are part of the contribution: this architecture makes decisions attributable and contestable; it does not make policy fair.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https://github.com/genaiworks/fssai-ra</a:t>
            </a:r>
          </a:p>
          <a:p xmlns:a="http://schemas.openxmlformats.org/drawingml/2006/main">
            <a:r>
              <a:t>- https://unu.edu/macau/announcement/book-series-aisd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029250f0a7445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80bbd979dc45b4" /><Relationship Type="http://schemas.openxmlformats.org/officeDocument/2006/relationships/slideLayout" Target="/ppt/slideLayouts/slideLayout1.xml" Id="Rf790659d9ba04c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90659d9ba04c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b176d142924752" /><Relationship Type="http://schemas.openxmlformats.org/officeDocument/2006/relationships/notesSlide" Target="/ppt/notesSlides/notesSlide1.xml" Id="R4c878b1d5d764a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b4fb930d63450a" /><Relationship Type="http://schemas.openxmlformats.org/officeDocument/2006/relationships/notesSlide" Target="/ppt/notesSlides/notesSlide2.xml" Id="R63633f2463594d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478fca129d4e6d" /><Relationship Type="http://schemas.openxmlformats.org/officeDocument/2006/relationships/notesSlide" Target="/ppt/notesSlides/notesSlide3.xml" Id="R92089bfccb7840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d22d50e2be4c1d" /><Relationship Type="http://schemas.openxmlformats.org/officeDocument/2006/relationships/notesSlide" Target="/ppt/notesSlides/notesSlide4.xml" Id="Reddb87a674cf40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baaff1b1f54a13" /><Relationship Type="http://schemas.openxmlformats.org/officeDocument/2006/relationships/notesSlide" Target="/ppt/notesSlides/notesSlide5.xml" Id="Rf593c9cb1e0442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7a4b8515764b70" /><Relationship Type="http://schemas.openxmlformats.org/officeDocument/2006/relationships/notesSlide" Target="/ppt/notesSlides/notesSlide6.xml" Id="Ra943e247aff241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4019a992854a32" /><Relationship Type="http://schemas.openxmlformats.org/officeDocument/2006/relationships/notesSlide" Target="/ppt/notesSlides/notesSlide7.xml" Id="R01150620281b40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caa60b6bc04088" /><Relationship Type="http://schemas.openxmlformats.org/officeDocument/2006/relationships/notesSlide" Target="/ppt/notesSlides/notesSlide8.xml" Id="R1a3683bc635d419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80f2f4d6043cd" /><Relationship Type="http://schemas.openxmlformats.org/officeDocument/2006/relationships/chart" Target="/ppt/slides/charts/chart1.xml" Id="Rc9d67eaff6f54ff4" /><Relationship Type="http://schemas.openxmlformats.org/officeDocument/2006/relationships/notesSlide" Target="/ppt/notesSlides/notesSlide9.xml" Id="R585b1c448af94d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cc467c0e5143f6" /><Relationship Type="http://schemas.openxmlformats.org/officeDocument/2006/relationships/notesSlide" Target="/ppt/notesSlides/notesSlide10.xml" Id="Rccb28e62f095482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548dde6ca44683" /><Relationship Type="http://schemas.openxmlformats.org/officeDocument/2006/relationships/notesSlide" Target="/ppt/notesSlides/notesSlide11.xml" Id="Rc17b2e6f8ce84c0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ee8f0e64a400d" /><Relationship Type="http://schemas.openxmlformats.org/officeDocument/2006/relationships/notesSlide" Target="/ppt/notesSlides/notesSlide12.xml" Id="R2c1eedcbd6474b9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6fe374b34497b" /><Relationship Type="http://schemas.openxmlformats.org/officeDocument/2006/relationships/notesSlide" Target="/ppt/notesSlides/notesSlide13.xml" Id="R56837b7554be408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81e8eedcef4ae4" /><Relationship Type="http://schemas.openxmlformats.org/officeDocument/2006/relationships/notesSlide" Target="/ppt/notesSlides/notesSlide14.xml" Id="Rf4c5f60674a043d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rial"/>
                <a:ea typeface="Arial"/>
                <a:cs typeface="Arial"/>
              </a:rPr>
              <a:t>Attack containment (%)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"/>
              <a:ea typeface="Arial"/>
              <a:cs typeface="Arial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Contained</c:v>
          </c:tx>
          <c:spPr>
            <a:solidFill xmlns:a="http://schemas.openxmlformats.org/drawingml/2006/main">
              <a:srgbClr val="007F7A"/>
            </a:solidFill>
          </c:spPr>
          <c:cat>
            <c:strRef>
              <c:f>'Chart Data'!$A$2:$A$4</c:f>
              <c:strCache>
                <c:ptCount val="3"/>
                <c:pt idx="0">
                  <c:v>Unguarded</c:v>
                </c:pt>
                <c:pt idx="1">
                  <c:v>Prompt + allowlist</c:v>
                </c:pt>
                <c:pt idx="2">
                  <c:v>Trust by Construction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0</c:v>
                </c:pt>
                <c:pt idx="1">
                  <c:v>29</c:v>
                </c:pt>
                <c:pt idx="2">
                  <c:v>100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Percent contained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CCD8DE"/>
      </a:solidFill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D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6B7BAF-6D19-4D6A-A5CB-446B2D78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"/>
            <a:ext cx="2952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7425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A63AE3-4023-4EBA-9E11-09EFC0FB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D9EE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9EEEE"/>
                </a:solidFill>
                <a:latin typeface="Arial"/>
                <a:ea typeface="Arial"/>
                <a:cs typeface="Arial"/>
              </a:rPr>
              <a:t>UNU MACAU AI CONFERENCE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3A49DA-1A48-4BE5-BBB0-00058DF7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68580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Trust by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076499-B91E-4FBB-A4DF-6163CD57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657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8E4E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8E4EA"/>
                </a:solidFill>
                <a:latin typeface="Arial"/>
                <a:ea typeface="Arial"/>
                <a:cs typeface="Arial"/>
              </a:rPr>
              <a:t>A testable architecture for sovereign AI agents in education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0716B1-1116-4489-B7AC-210D7691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104900"/>
            <a:ext cx="3695700" cy="409575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173E54"/>
          </a:solidFill>
          <a:ln xmlns:a="http://schemas.openxmlformats.org/drawingml/2006/main" w="9525">
            <a:solidFill>
              <a:srgbClr val="35637A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28142C-7122-4346-A9D8-029E9D9B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097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5B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5B14C"/>
                </a:solidFill>
                <a:latin typeface="Arial"/>
                <a:ea typeface="Arial"/>
                <a:cs typeface="Arial"/>
              </a:rPr>
              <a:t>THE RULE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114616-9392-4781-9EFE-909DEDA2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57375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model may</a:t>
            </a:r>
          </a:p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propose an action.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137B49-B0AD-4B36-B04F-34B7A1AF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035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66A4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66A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744CB5-83CF-4C7D-B5DE-9DE46A54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62325"/>
            <a:ext cx="2952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It cannot create</a:t>
            </a:r>
          </a:p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authority to execute it.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FC5964-20A1-43CF-A020-F1E3E2C7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9CCD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9CCD6"/>
                </a:solidFill>
                <a:latin typeface="Arial"/>
                <a:ea typeface="Arial"/>
                <a:cs typeface="Arial"/>
              </a:rPr>
              <a:t>Open reference implementation  •  Apache 2.0  •  v1.0.0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26F8AB-8688-4CD0-A6A2-E446B8D6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96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A6B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CA6B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647038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074CE5-0C5E-46DA-876D-FD46279F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THE HUMAN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742419-CD1A-4F1D-A1A1-3E3EA587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A refused student asks three simple questions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7A6DA2-A89E-4604-8DA7-1578AD286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F27BB-04C4-4DBD-AA6E-871486B1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076525-F1F5-4A2E-B323-184A5EDA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333375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05524F-28A0-4107-B16C-0D1B54C7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81200"/>
            <a:ext cx="52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66A4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E66A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AA5838-509A-4B4E-8DBC-206193F7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95550"/>
            <a:ext cx="2809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Who decided?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E697E8-601F-435E-B78D-6960C8A5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390900"/>
            <a:ext cx="2762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Name the person, service, and authority used.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58D4A1-B11D-42D4-AD91-DB14FAFBC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14500"/>
            <a:ext cx="333375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EDF4F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9A48F-7198-49E7-A916-5F37AEF4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81200"/>
            <a:ext cx="52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66A4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E66A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B7BD7C-DD68-4A51-8D69-41BB251F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495550"/>
            <a:ext cx="2809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What did they see?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BA509B-CBED-4796-B7E9-991F74A4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90900"/>
            <a:ext cx="2762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Preserve the exact evidence and versions.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00D4CB-CE5B-4E67-A90E-BBC6F3D0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14500"/>
            <a:ext cx="333375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F92B2D-631B-46DE-9900-5EE50D73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981200"/>
            <a:ext cx="52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66A4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E66A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4AA3C6-A928-4437-BE46-F89B40CD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495550"/>
            <a:ext cx="2809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How can I contest it?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01FFD0-395F-469B-9042-A78FEA5E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390900"/>
            <a:ext cx="2762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Provide correction, appeal, and recovery routes.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90772D-0292-40B3-B1F7-12B7C66BB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863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A hostile document and an ordinary model error can cause the same institutional harm.</a:t>
            </a:r>
          </a:p>
        </p:txBody>
      </p:sp>
    </p:spTree>
    <p:extLst>
      <p:ext uri="{BB962C8B-B14F-4D97-AF65-F5344CB8AC3E}">
        <p14:creationId xmlns:p14="http://schemas.microsoft.com/office/powerpoint/2010/main" val="7007957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AF15E6-F0DA-4216-ADB0-41BECD51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REFRAME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AB6A7-77D0-435A-B8D1-C5EEEC98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Sovereignty is a capability set—not a hosting label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E1403D-0B34-4D85-9AB1-F628D929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EA2BC9-545F-4D9A-AC5C-AA1CDDEB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A15FE0-6266-4B98-8F20-0C5D1F20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581150" cy="1962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26E89E-E8CF-4B2C-875D-EBD3B109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798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5B45F7-FE6A-4FF6-A5D3-A075E272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35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ACCESS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83C0F-1A17-4881-9D28-833A7E648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57375"/>
            <a:ext cx="1581150" cy="1962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EDF4F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126314-1D86-492E-9E7A-211F7073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574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79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BFC49B-C795-497A-8FFC-557F596F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667000"/>
            <a:ext cx="135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MODELS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C57D6-0A05-45F8-B514-C5DC6153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57375"/>
            <a:ext cx="1581150" cy="1962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5E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5134D7-43AB-413E-BB4A-7254126F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574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79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0E10BA-C387-4FEA-AF1A-170948CD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67000"/>
            <a:ext cx="135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KEYS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88F34B-FA67-4B61-BA2C-B6EE4AC11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57375"/>
            <a:ext cx="1581150" cy="1962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BEDE9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7763E2-C59F-45DF-8EB4-FBDCDF09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574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798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FA1A0B-1B22-442D-B2CF-DB027F1A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135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D7CAD7-167E-4166-BCD8-A5E4553E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57375"/>
            <a:ext cx="1581150" cy="1962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355181-A5F5-4F02-BF77-00255062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574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79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A926B1-1B8D-4C23-9DE9-FE8EE39B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67000"/>
            <a:ext cx="135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3B2C41-D646-4F9A-98A9-78909964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857375"/>
            <a:ext cx="1581150" cy="1962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EDF4F8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C70530-555C-4B5F-ABD6-FF40D115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0574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79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D080E3-F568-4C9C-A5CD-4B1CC4F19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667000"/>
            <a:ext cx="135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EXIT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1BC723-7F94-4821-949C-867878430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57700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Can the institution exercise it, prove it, recover it, and replace the provider?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788AAB-875E-4A7E-9379-9AC0BD33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219700"/>
            <a:ext cx="904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Local inference can help—but location alone does not settle operator access, key custody, policy control, or exit.</a:t>
            </a:r>
          </a:p>
        </p:txBody>
      </p:sp>
    </p:spTree>
    <p:extLst>
      <p:ext uri="{BB962C8B-B14F-4D97-AF65-F5344CB8AC3E}">
        <p14:creationId xmlns:p14="http://schemas.microsoft.com/office/powerpoint/2010/main" val="3778123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8B9DE5-C7B6-4D25-9050-5C4750B5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REFERENCE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BCCF3B-D1BB-4ABB-9E55-3F768C68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Five domains put enforcement outside the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79E490-4338-4B35-8B24-AF3BDCAA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4CC4EB-E679-4A3C-838D-0EEFD20F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AD6E43-1BD0-4E5C-A9E0-6C202F57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1924050" cy="219075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CCD8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8EF61D-4609-4A4F-A352-956AD3F3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428625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E9A72A-0921-42D6-984C-8324DF65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5AE99C-158F-47B4-A818-E41546E8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581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CONTROLLED</a:t>
            </a:r>
          </a:p>
          <a:p xmlns:a="http://schemas.openxmlformats.org/drawingml/2006/main">
            <a:pPr algn="ctr">
              <a:defRPr sz="142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IMPORT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EAE15C-A4C1-4BA3-B2C3-E756D835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581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check + release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97C7A-6996-4971-A76B-0D6A752A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724150"/>
            <a:ext cx="361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B018C3-FF03-416B-8973-C7BA38A4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962150"/>
            <a:ext cx="1924050" cy="219075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CCD8D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45F35A-84E9-4DB5-B429-3976DA16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133600"/>
            <a:ext cx="428625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A98EAC-490A-4962-9C9E-EABE67AF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14312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ED293-6FCA-46D2-976A-8F843468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667000"/>
            <a:ext cx="1581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TRACEABLE</a:t>
            </a:r>
          </a:p>
          <a:p xmlns:a="http://schemas.openxmlformats.org/drawingml/2006/main">
            <a:pPr algn="ctr">
              <a:defRPr sz="142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TRANSPORT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C9281A-05FE-412D-96BA-D3C36FA5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524250"/>
            <a:ext cx="1581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stable IDs + replay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285266-F2B1-4B22-A800-0DD20403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724150"/>
            <a:ext cx="361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D5ABDB-514F-47C5-AEB5-24C137DA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962150"/>
            <a:ext cx="1924050" cy="219075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CCD8D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1BD53A-6BB7-47BD-BFC9-B3CA6C8D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133600"/>
            <a:ext cx="428625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9E95D-2D99-4088-A9B3-9CB7EFA9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14312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E1C7E3-B2E8-4025-B797-848974A5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667000"/>
            <a:ext cx="1581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RECONSTRUCT</a:t>
            </a:r>
          </a:p>
          <a:p xmlns:a="http://schemas.openxmlformats.org/drawingml/2006/main">
            <a:pPr algn="ctr">
              <a:defRPr sz="142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23A4BF-2AAD-468B-9113-A8886CCB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524250"/>
            <a:ext cx="1581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snapshot + lineage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68950C-C24B-4B0D-A667-E669E30F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724150"/>
            <a:ext cx="361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EC2979-DC12-46FA-8B79-49C0F96C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1962150"/>
            <a:ext cx="1924050" cy="219075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CCD8DE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0FB389-EFF6-48D4-AE58-C35CCD4E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133600"/>
            <a:ext cx="428625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4F584F-4C53-44C8-96F5-06D1F996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14312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7430F1-C144-4412-A1D7-62D8F92C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667000"/>
            <a:ext cx="1581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BOUNDED</a:t>
            </a:r>
          </a:p>
          <a:p xmlns:a="http://schemas.openxmlformats.org/drawingml/2006/main">
            <a:pPr algn="ctr">
              <a:defRPr sz="142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ASSISTANCE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E4A019-2285-4A80-AD5E-79B21C6B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524250"/>
            <a:ext cx="1581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narrow identity + tools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306DAF-42BA-4243-A78D-85A74C08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724150"/>
            <a:ext cx="361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C3FB43-A8CF-4DEB-8ACA-9467E82D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62150"/>
            <a:ext cx="1924050" cy="219075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BEDE9"/>
          </a:solidFill>
          <a:ln xmlns:a="http://schemas.openxmlformats.org/drawingml/2006/main" w="9525">
            <a:solidFill>
              <a:srgbClr val="E66A4E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4B7583-6838-4C68-B163-512CC405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33600"/>
            <a:ext cx="428625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7DCD4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46A444-5351-44F7-83D3-9676D24A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43125"/>
            <a:ext cx="428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84F4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4F43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96E2F3-6271-4639-AFAD-083CC073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667000"/>
            <a:ext cx="1581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ACCOUNTABLE</a:t>
            </a:r>
          </a:p>
          <a:p xmlns:a="http://schemas.openxmlformats.org/drawingml/2006/main">
            <a:pPr algn="ctr">
              <a:defRPr sz="142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13CAD2-7C5F-4E53-91EC-22358149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524250"/>
            <a:ext cx="1581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separate executor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07D6511-F38E-44BC-9480-54AD9272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one-way ingress is a replaceable seam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488098-EE74-486B-8D07-4EB6CA66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524375"/>
            <a:ext cx="404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E66A4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66A4E"/>
                </a:solidFill>
                <a:latin typeface="Arial"/>
                <a:ea typeface="Arial"/>
                <a:cs typeface="Arial"/>
              </a:rPr>
              <a:t>model process never holds the write credential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C0CF6C-A8C2-4F23-9000-2A181E5B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10820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D42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9A2E1E-9DBB-4D53-9E23-17769D1CE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10429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software interface does not prove physical directionality; a certified diode governs only its specified link.</a:t>
            </a:r>
          </a:p>
        </p:txBody>
      </p:sp>
    </p:spTree>
    <p:extLst>
      <p:ext uri="{BB962C8B-B14F-4D97-AF65-F5344CB8AC3E}">
        <p14:creationId xmlns:p14="http://schemas.microsoft.com/office/powerpoint/2010/main" val="9393364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7FC6B5-8D87-4114-A7BB-F8807D10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ORIGINAL CONTRIBUTION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8FAF6-02B9-45BD-9AA2-2FC721E3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The seven-field control contract makes governance executable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5A7AC2-BC7B-4456-89E6-27F7C6795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07052F-0E42-4E48-A66D-80ADE0DF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936ED2-B648-41AC-8D44-BA18256D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2476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DF4F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2BC70-6E23-4572-AAB2-3A9933A0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573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5E3CC8-8CC2-47CF-B55B-BF6AB394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213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What must not be harmed?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361D5C-3FD7-43C0-A3A5-F69FB588F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66875"/>
            <a:ext cx="2476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DF4F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96F97A-EA20-4B0E-9C50-747D2B34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8573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OPERATION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D83CEC-8378-43F9-A339-E19C16F0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213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What exact change is allowed?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D9842E-076C-4C29-9E00-E227B6E9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66875"/>
            <a:ext cx="2476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DF4F8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4264F6-AB52-4A10-AB81-B94E7748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573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ENFORCEMENT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AF69E8-38FA-475B-A3E7-C86B9B62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86000"/>
            <a:ext cx="213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Where is it stopped?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54BD7-0D5C-4314-83CB-44C1A2285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666875"/>
            <a:ext cx="2476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DF4F8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0097F6-6EBC-4747-8661-6F501AC3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8573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OWNER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22240C-0667-453B-B158-6216C76C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286000"/>
            <a:ext cx="213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Who is accountable?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CF4074-5EC9-40DB-9855-5BD4DAD5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38550"/>
            <a:ext cx="2476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895F72-2ADA-498C-8B46-D8B471E7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82905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FAILURE 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78B3A5-9183-4139-8A0D-4EA1D4A0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257675"/>
            <a:ext cx="213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How do we try to break it?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5F8996-764B-417B-94C0-2B5F2EA2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638550"/>
            <a:ext cx="2476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4C5A46-7DFD-4B23-9C7A-9C8D07980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82905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476A39-2FDE-472A-9FC3-8DFF6D62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57675"/>
            <a:ext cx="213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What proves the result?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26F78B-46E5-4852-ADEA-A064169F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638550"/>
            <a:ext cx="2476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0A3E17-B81B-4CEE-9ADE-99AADC47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82905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RECOVERY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A9FBB5-51FF-4ADF-B04D-6F6BDAB6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57675"/>
            <a:ext cx="213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What happens after failure?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C2840C-0E76-4103-8957-53E8069C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52450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66A4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E66A4E"/>
                </a:solidFill>
                <a:latin typeface="Arial"/>
                <a:ea typeface="Arial"/>
                <a:cs typeface="Arial"/>
              </a:rPr>
              <a:t>Missing any field → the capability is not ready for automation.</a:t>
            </a:r>
          </a:p>
        </p:txBody>
      </p:sp>
    </p:spTree>
    <p:extLst>
      <p:ext uri="{BB962C8B-B14F-4D97-AF65-F5344CB8AC3E}">
        <p14:creationId xmlns:p14="http://schemas.microsoft.com/office/powerpoint/2010/main" val="10815006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CE6D16-4E76-4532-A2EF-136D720A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MECHANISM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34E2F-DA68-496D-BCDA-F8E1DFE6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Approval binds to one exact proposal—not to an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E006CA-1C26-4C80-ABCD-6C0BEB18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7E3510-A89A-42D2-97D1-64D25157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92E0C-C0D7-446F-A465-2761DC55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619625" cy="3648075"/>
          </a:xfrm>
          <a:prstGeom xmlns:a="http://schemas.openxmlformats.org/drawingml/2006/main" prst="roundRect">
            <a:avLst>
              <a:gd name="adj" fmla="val 2089"/>
            </a:avLst>
          </a:prstGeom>
          <a:solidFill xmlns:a="http://schemas.openxmlformats.org/drawingml/2006/main">
            <a:srgbClr val="EDF4F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6E27F5-98E9-482F-8554-3773AE19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050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CANONICAL DIGEST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0A2C70-FF6A-466A-8843-1F5C7F31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19350"/>
            <a:ext cx="39528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operation  +  target</a:t>
            </a:r>
          </a:p>
          <a:p xmlns:a="http://schemas.openxmlformats.org/drawingml/2006/main">
            <a:pPr algn="ctr">
              <a:defRPr sz="172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arguments  +  evidence version</a:t>
            </a:r>
          </a:p>
          <a:p xmlns:a="http://schemas.openxmlformats.org/drawingml/2006/main">
            <a:pPr algn="ctr">
              <a:defRPr sz="172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resource version  +  reviewer role</a:t>
            </a:r>
          </a:p>
          <a:p xmlns:a="http://schemas.openxmlformats.org/drawingml/2006/main">
            <a:pPr algn="ctr">
              <a:defRPr sz="172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audience  +  expiry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B31D97-17A4-46C9-8A07-36DEA360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533900"/>
            <a:ext cx="2047875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CEBF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A33541-B52E-4B3E-9C8C-08C4908B9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543425"/>
            <a:ext cx="2047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SIGNED APPROVAL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C6FC84-FDCE-4065-854C-4E3EDDCC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3845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E66A4E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E66A4E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88C076-1222-48FA-AD9D-EC463FDF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57350"/>
            <a:ext cx="5334000" cy="3648075"/>
          </a:xfrm>
          <a:prstGeom xmlns:a="http://schemas.openxmlformats.org/drawingml/2006/main" prst="roundRect">
            <a:avLst>
              <a:gd name="adj" fmla="val 2089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D3BBBF-E444-46FC-98AA-2430DCB9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050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THE EXECUTOR RECHECKS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D6B632-559D-4BA8-A158-43C77B54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19350"/>
            <a:ext cx="4476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✓ signature and expiry</a:t>
            </a:r>
          </a:p>
          <a:p xmlns:a="http://schemas.openxmlformats.org/drawingml/2006/main">
            <a:pPr algn="l">
              <a:defRPr sz="165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✓ exact payload and current version</a:t>
            </a:r>
          </a:p>
          <a:p xmlns:a="http://schemas.openxmlformats.org/drawingml/2006/main">
            <a:pPr algn="l">
              <a:defRPr sz="165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✓ reviewer role and audience</a:t>
            </a:r>
          </a:p>
          <a:p xmlns:a="http://schemas.openxmlformats.org/drawingml/2006/main">
            <a:pPr algn="l">
              <a:defRPr sz="165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✓ policy-derived review class</a:t>
            </a:r>
          </a:p>
          <a:p xmlns:a="http://schemas.openxmlformats.org/drawingml/2006/main">
            <a:pPr algn="l">
              <a:defRPr sz="165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✓ request replay and outcome state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B49CAD-4B81-479B-ADDF-515B8F3F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10100"/>
            <a:ext cx="1905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FF1E8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55B1C1-960D-4702-859C-2C66AFCB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767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2876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2876B"/>
                </a:solidFill>
                <a:latin typeface="Arial"/>
                <a:ea typeface="Arial"/>
                <a:cs typeface="Arial"/>
              </a:rPr>
              <a:t>MATCH → EXECUTE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2230BD-1E0C-422D-99A1-4A721F94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10100"/>
            <a:ext cx="2333625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4E0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3C7D0F-BFA2-47BC-9B91-74120888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6767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84F4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4F43"/>
                </a:solidFill>
                <a:latin typeface="Arial"/>
                <a:ea typeface="Arial"/>
                <a:cs typeface="Arial"/>
              </a:rPr>
              <a:t>MISMATCH → DENY</a:t>
            </a:r>
          </a:p>
        </p:txBody>
      </p:sp>
    </p:spTree>
    <p:extLst>
      <p:ext uri="{BB962C8B-B14F-4D97-AF65-F5344CB8AC3E}">
        <p14:creationId xmlns:p14="http://schemas.microsoft.com/office/powerpoint/2010/main" val="116012272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52F6EC-4D7F-4F4C-8CA6-824B82CC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60-SECOND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B262E1-0202-4F4D-A8FC-717BD163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Change the approved payload; watch the boundary hold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E09A4E-D236-42D6-988E-E2256885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546998-EDC4-4D0E-A015-2EDC6B52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532791-9DA0-411F-8C58-4E8ED7F7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257175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07CAE6-9EFE-469B-8584-4C9FD270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33600"/>
            <a:ext cx="4381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80F52A-1317-439E-80AC-4374F95C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431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71D8B1-796D-4D7C-A4ED-3E672540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43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PROPOSE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187CAA-DBA4-4E01-AA0E-74E0F651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S-104: draft → ready for 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D007E7-BE8F-4FFE-A54B-12607C24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1952625"/>
            <a:ext cx="257175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3443C9-4015-4129-8CFB-B24CAAA0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133600"/>
            <a:ext cx="4381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D95AC-82ED-4E8B-B575-BF646B6B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1431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E70875-17B8-4EAD-9A91-B0905D13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743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APPROVE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F46C79-82C0-43B2-A9D5-77D53D7D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86125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Officer signs the exact digest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50C7AC-EFB1-421A-B1ED-B4BFA1DE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52625"/>
            <a:ext cx="257175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BEDE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621532-B834-40C2-8FFC-28480439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33600"/>
            <a:ext cx="4381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7DCD4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CAE740-330C-46FF-BF2D-CD28A476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431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84F4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4F4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9C5033-2E8E-4745-989C-61996F10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43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4F4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4F43"/>
                </a:solidFill>
                <a:latin typeface="Arial"/>
                <a:ea typeface="Arial"/>
                <a:cs typeface="Arial"/>
              </a:rPr>
              <a:t>TAMPER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810002-BD0F-4746-A9F3-E9231E59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286125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Change target or requested status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D7BD65-110D-42EB-AC24-EF7DADD3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952625"/>
            <a:ext cx="257175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E69CE8-23BF-46C6-B61D-9D6BAA8F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133600"/>
            <a:ext cx="4381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7CE309-26F1-402E-BFCB-E34CD8A2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1431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A47B45-6E69-4A82-8C25-F49D8DA4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743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7E8EDB-EB44-4B0A-A7B4-12F328F3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286125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Mismatch denied; original runs once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7EEB73-D82E-467D-8621-8DF19AF6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762500"/>
            <a:ext cx="676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E66A4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E66A4E"/>
                </a:solidFill>
                <a:latin typeface="Arial"/>
                <a:ea typeface="Arial"/>
                <a:cs typeface="Arial"/>
              </a:rPr>
              <a:t>APPROVAL_PAYLOAD_MISMATCH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4EF672-C544-454B-BCE0-33A468DA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40067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synthetic records • sandbox register • reproducible command</a:t>
            </a:r>
          </a:p>
        </p:txBody>
      </p:sp>
    </p:spTree>
    <p:extLst>
      <p:ext uri="{BB962C8B-B14F-4D97-AF65-F5344CB8AC3E}">
        <p14:creationId xmlns:p14="http://schemas.microsoft.com/office/powerpoint/2010/main" val="2013742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6CDD58-C237-41F8-82CA-59F24CA5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REPRODUCIBLE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3AC80C-2B8C-4558-9039-06166A74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Containment is reported beside utility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8A3DE0-523B-4457-B539-97DB5B99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B3CFD-7AFA-4412-B38F-054BC476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AE06C6-F88C-40DC-854F-69BBF8F7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2619375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36E8BC-3E4A-48D0-BB4C-DA335AC1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43125"/>
            <a:ext cx="23145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30 / 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BF139E-BE28-443F-8A2D-8928A3484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95625"/>
            <a:ext cx="223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adversarial fixtures contained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DEC58D-00D8-481B-84C6-838A8664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09750"/>
            <a:ext cx="2619375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F2721A-5A88-4DF0-87CF-B8A3B6A5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143125"/>
            <a:ext cx="23145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E66A4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E66A4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B894F3-FDAE-4A8F-9519-F1A23B3D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095625"/>
            <a:ext cx="223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unauthorized mutations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76864F-3F78-4F50-8EA2-21B5AD81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09750"/>
            <a:ext cx="2619375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893D1-C435-4084-B7F1-ED24EDFD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43125"/>
            <a:ext cx="23145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6 / 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B91DA2-EDC9-4067-99EE-C51C2C4E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95625"/>
            <a:ext cx="223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benign tasks completed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D80029-51B9-43A6-BB68-0377A0F4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1809750"/>
            <a:ext cx="2619375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67B753-D086-45C0-A5C4-D423232D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143125"/>
            <a:ext cx="23145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187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F91E00-D85A-4E08-B934-F20F930C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3095625"/>
            <a:ext cx="223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deterministic offline tests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D0882E-F3A8-43B0-8E2D-E311882E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72000"/>
            <a:ext cx="104394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02D4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1FB838-2586-4856-8687-5CD768E5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72025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Fixture observations in declared local environments—not probabilities, certification, or production-readiness claims.</a:t>
            </a:r>
          </a:p>
        </p:txBody>
      </p:sp>
    </p:spTree>
    <p:extLst>
      <p:ext uri="{BB962C8B-B14F-4D97-AF65-F5344CB8AC3E}">
        <p14:creationId xmlns:p14="http://schemas.microsoft.com/office/powerpoint/2010/main" val="15396948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9EABB4-BAA1-48AD-B76A-69026BCE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CONTROLLED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05C589-9D03-4D99-962D-B7F08C73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Prompts help; authority separation changes the outcome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465EE9-6842-460C-BF69-669971B1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A430F-71CC-4816-AA71-E1AF096C5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742950" y="1666875"/>
          <a:ext xmlns:a="http://schemas.openxmlformats.org/drawingml/2006/main" cx="685800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9d67eaff6f54ff4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46C95-1A0D-4504-B110-215DE73E2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57375"/>
            <a:ext cx="3333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D2BABC-AE0B-4BDE-8BD9-BF0D9FEA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133600"/>
            <a:ext cx="266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985"/>
                </a:solidFill>
                <a:latin typeface="Arial"/>
                <a:ea typeface="Arial"/>
                <a:cs typeface="Arial"/>
              </a:rPr>
              <a:t>HARMFUL ACTIONS</a:t>
            </a:r>
          </a:p>
          <a:p xmlns:a="http://schemas.openxmlformats.org/drawingml/2006/main">
            <a:pPr algn="ctr">
              <a:defRPr sz="1200" b="1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985"/>
                </a:solidFill>
                <a:latin typeface="Arial"/>
                <a:ea typeface="Arial"/>
                <a:cs typeface="Arial"/>
              </a:rPr>
              <a:t>DELIVERED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8B7288-8732-4C3A-B583-D586B5DB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9560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B84F4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B84F43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B4213E-B048-4F34-8187-BBCF9C8C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89560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E66A4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66A4E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A5263-C52E-4C64-A874-89D80ECB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89560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32876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2876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4399E4-6D6F-40F3-B7D1-342A8894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52825"/>
            <a:ext cx="904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unguarded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72E8B5-277B-4C7E-BE0A-FF911470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52825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prompt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EC617B-129A-44AA-9E1C-36716C2F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552825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full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A5D54D-8B16-4665-B81E-D5748A1B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672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Same seven attack classes and benign tasks across all three arms.</a:t>
            </a:r>
          </a:p>
        </p:txBody>
      </p:sp>
    </p:spTree>
    <p:extLst>
      <p:ext uri="{BB962C8B-B14F-4D97-AF65-F5344CB8AC3E}">
        <p14:creationId xmlns:p14="http://schemas.microsoft.com/office/powerpoint/2010/main" val="6493206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65882C-92FD-4654-A7C7-585ED291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ASSURANCE THAT CAN FALSIFY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C59EA4-D9E5-4ADE-A26D-C1B2C468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The tests improved the architecture by finding our own defects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C3620B-8A64-46B8-9DC0-F26E5F24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0A669-16A8-4A34-831B-F6AE1D65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B22EF5-7EB2-4358-89D1-DD5B663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2095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DF4F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E1EEAF-3B45-424E-A536-76C162ED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19300"/>
            <a:ext cx="180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625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240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F4905B-4376-41AC-9310-C590D703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bounded states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11C161-6977-42A6-95FA-2C40A5DC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09750"/>
            <a:ext cx="2095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DF4F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AEA0B-AA26-4E14-9004-30361887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19300"/>
            <a:ext cx="180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625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8AB179-E8B3-4C0A-829F-2E0FB6C11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6860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denial controls reached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FFA009-2BED-4F12-999D-CC4AFE92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809750"/>
            <a:ext cx="2095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DF4F8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34F31E-FD61-432E-B27B-4FF279FC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19300"/>
            <a:ext cx="180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625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AC731F-EEF1-464D-BD91-3DEF1B1B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860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ablations restored harm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4C26B3-AB08-443B-9967-A580687A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657350"/>
            <a:ext cx="3238500" cy="3857625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FBEDE9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FC7545-9DCC-4668-8602-B73A2420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9050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4F4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4F43"/>
                </a:solidFill>
                <a:latin typeface="Arial"/>
                <a:ea typeface="Arial"/>
                <a:cs typeface="Arial"/>
              </a:rPr>
              <a:t>DEFECTS FOUND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CAB2FA-EF17-4664-94C2-40A74BF3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7650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6A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E66A4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3C183A-01D2-4B62-96CB-90B6AADD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19350"/>
            <a:ext cx="2238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Some tests hit signature checks before the claimed control.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8413E2-3A7C-48B7-90C7-808B6CDF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48615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6A4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E66A4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EDC020-9725-4D90-9E06-FE492EF5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29000"/>
            <a:ext cx="2238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The first SQL evidence adapter failed to enforce its write key.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111420-0F3F-412A-A317-4D9EDE7F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762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84F4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84F43"/>
                </a:solidFill>
                <a:latin typeface="Arial"/>
                <a:ea typeface="Arial"/>
                <a:cs typeface="Arial"/>
              </a:rPr>
              <a:t>Both became regression tests.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5BE969-338C-4BB2-B6AE-D699B48E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333875"/>
            <a:ext cx="642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A framework that cannot reveal a defect is only decoration.</a:t>
            </a:r>
          </a:p>
        </p:txBody>
      </p:sp>
    </p:spTree>
    <p:extLst>
      <p:ext uri="{BB962C8B-B14F-4D97-AF65-F5344CB8AC3E}">
        <p14:creationId xmlns:p14="http://schemas.microsoft.com/office/powerpoint/2010/main" val="1487769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985D3C-7E37-481C-83BF-4AAC8EC3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BOUNDED CONCURRENCY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D23EB5-7AC0-4DD5-BB13-95DF7E6C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Thirty-two callers; one approved side effect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376F26-092D-45D8-BDF3-9E0C990D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02DFF7-8937-4C6B-ADF4-5BAC880B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31BE16-E65B-48F5-AF20-94C24251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4000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02D4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8DF9AB-660A-49E3-A69F-98651D2E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76450"/>
            <a:ext cx="333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77E8DE-D639-411E-AF2C-F461FE8E4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7655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C7D8E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7D8E0"/>
                </a:solidFill>
                <a:latin typeface="Arial"/>
                <a:ea typeface="Arial"/>
                <a:cs typeface="Arial"/>
              </a:rPr>
              <a:t>concurrent callers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39AB6A-69F0-40DB-ADC1-CF1A73DC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0042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E5B14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5B14C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2EB48-8669-4015-BA9C-EF1A5475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000500"/>
            <a:ext cx="333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 mutation  •  1 receipt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 intent  •  1 outcome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BA047E-B0D4-45AD-BA15-7659FEB6A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62125"/>
            <a:ext cx="63817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341940-216B-4845-85C0-CC3C2E63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0193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ATOMIC RECORD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B4AC5E-2E0A-4BCC-8AAD-955A6311F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628900"/>
            <a:ext cx="1238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4BAD81-64C5-49BC-AE93-2BD9502D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71775"/>
            <a:ext cx="110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intent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33C03A-0FD3-4D90-B4E4-0BFEF642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628900"/>
            <a:ext cx="1238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BEDE9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BA9A39-BFF3-402B-BD30-19BA6182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771775"/>
            <a:ext cx="110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84F4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84F43"/>
                </a:solidFill>
                <a:latin typeface="Arial"/>
                <a:ea typeface="Arial"/>
                <a:cs typeface="Arial"/>
              </a:rPr>
              <a:t>mutation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359413-35BB-4D95-A08C-3F0BA08D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28900"/>
            <a:ext cx="1238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C2400C-318F-4D69-A6EE-8C52592A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71775"/>
            <a:ext cx="110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receipt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0F29BB-4EA0-4181-B04A-E37FD621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628900"/>
            <a:ext cx="1238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7B6A6F-0D03-4756-8200-52CF481CC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71775"/>
            <a:ext cx="110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outcome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0B0244-E70E-40E6-99C7-62911362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338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2876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2876B"/>
                </a:solidFill>
                <a:latin typeface="Arial"/>
                <a:ea typeface="Arial"/>
                <a:cs typeface="Arial"/>
              </a:rPr>
              <a:t>31 replay responses returned the same receipt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F52F6-C80A-4382-9B9D-04FDE900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91025"/>
            <a:ext cx="552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Bound: one process + one transactional SQLite database + one request.</a:t>
            </a:r>
          </a:p>
          <a:p xmlns:a="http://schemas.openxmlformats.org/drawingml/2006/main">
            <a:pPr algn="ctr">
              <a:defRPr sz="1200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This is not distributed linearizability.</a:t>
            </a:r>
          </a:p>
        </p:txBody>
      </p:sp>
    </p:spTree>
    <p:extLst>
      <p:ext uri="{BB962C8B-B14F-4D97-AF65-F5344CB8AC3E}">
        <p14:creationId xmlns:p14="http://schemas.microsoft.com/office/powerpoint/2010/main" val="10441633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F57354-ACC4-4A2C-B578-6042C9DF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OPEN REFERENCE IMPLEMENTATION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3CB9BF-7FA6-4ADC-B6E1-29A5BA1B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A complete base framework with replaceable seams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851226-FEBA-47BC-B44A-EA3799B7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186C40-2E05-429E-B0CF-E816078E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D3E8B3-58D0-486B-A542-575F2AB1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1047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DF4F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2066B9-FE8E-4E6F-B855-F8880F3F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43075"/>
            <a:ext cx="2238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EXPERIENCE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6C2766-C66A-4549-B2E0-9DCD0852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33550"/>
            <a:ext cx="7572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React console  •  browser control-contract worksheet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B3D34E-D487-47B6-9CDF-A9723653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38400"/>
            <a:ext cx="1047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3430C4-2BFA-46C6-AFD8-C54E6F72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81275"/>
            <a:ext cx="2238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CONTROL PLANE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94595F-8CD7-4D45-B88C-B03A1A62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7572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Python  •  FastAPI  •  exact-action executor  •  verification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686EE5-33B4-4AF6-93F6-2A632D20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76600"/>
            <a:ext cx="1047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E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2ABE2E-758A-4636-9FA0-47B943DAB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19475"/>
            <a:ext cx="2238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STATE + TRANSPORT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A4512F-E396-4AF2-BDD8-0BDB18F8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409950"/>
            <a:ext cx="7572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PostgreSQL  •  Redis  •  Kafka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B46F8E-5978-466E-8E61-6A908D02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14800"/>
            <a:ext cx="1047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BEDE9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903DED-6C50-451D-977C-38825ADA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57675"/>
            <a:ext cx="2238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4F4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4F43"/>
                </a:solidFill>
                <a:latin typeface="Arial"/>
                <a:ea typeface="Arial"/>
                <a:cs typeface="Arial"/>
              </a:rPr>
              <a:t>ANALYTICS + LINEAGE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829B2E-F544-4755-8360-CEB5B24C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248150"/>
            <a:ext cx="7572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PySpark  •  Apache Iceberg  •  S3-compatible storage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2933FB-14EF-4435-9008-CCFB49F2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53000"/>
            <a:ext cx="1047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0F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136385-FD8C-48A6-AD93-78EE99D2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95875"/>
            <a:ext cx="2238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MODEL + ISOLATION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52F6F3-5F9B-4BF6-BFDD-3EC3D2CA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86350"/>
            <a:ext cx="7572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Ollama adapter  •  software ingress seam  •  hardware-diode profile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AFEB4B-AAD6-4B98-86E7-5EE5CF62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055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Profiles: offline teaching  →  distributed reference  →  hardware isolated</a:t>
            </a:r>
          </a:p>
        </p:txBody>
      </p:sp>
    </p:spTree>
    <p:extLst>
      <p:ext uri="{BB962C8B-B14F-4D97-AF65-F5344CB8AC3E}">
        <p14:creationId xmlns:p14="http://schemas.microsoft.com/office/powerpoint/2010/main" val="9595156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C178DE-4AE6-4240-9F82-B5D92D53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AI × EDUCATION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1D2605-8E7D-40F8-8F0F-AA06A12C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One framework serves both halves of the conference theme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7883A7-BDC8-4D13-B22F-3D2D5297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20D738-1871-4955-9F41-7C4D17F3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4A3505-B88C-4C2E-A7D1-755F25CC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5143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EDF4F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92782E-6CD3-48C8-A07B-715E08FF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52625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DEAF5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F7B67-61B7-40A3-805A-7EE6513B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977A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977A8"/>
                </a:solidFill>
                <a:latin typeface="Arial"/>
                <a:ea typeface="Arial"/>
                <a:cs typeface="Arial"/>
              </a:rPr>
              <a:t>AI FOR LEARNING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F25684-2D16-4D9D-93EF-76DB657A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4795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Support education services while keeping consequential authority, evidence, and redress under institutional rule.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3F02FE-BC93-48C9-8176-2CEBF7B4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143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E8F3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55F9D8-8A21-45BD-8F21-82DA4151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52625"/>
            <a:ext cx="1809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8EEE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011AAC-DB3E-470F-87BD-212BD49F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621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LEARNING FOR AI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3073CF-269B-460F-843C-C4462EDB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64795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Learners remove a control, observe the harm, inspect the evidence, and restore the service.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8240C7-CEDC-4373-B033-C7594831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62550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66A4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66A4E"/>
                </a:solidFill>
                <a:latin typeface="Arial"/>
                <a:ea typeface="Arial"/>
                <a:cs typeface="Arial"/>
              </a:rPr>
              <a:t>START SMALL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EAF706-2785-4494-B727-76089365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05400"/>
            <a:ext cx="923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6343D"/>
                </a:solidFill>
                <a:latin typeface="Arial"/>
                <a:ea typeface="Arial"/>
                <a:cs typeface="Arial"/>
              </a:rPr>
              <a:t>one low-volume action  →  publish contract + exclusions  →  test with synthetic data  →  add domain measures  →  pilot independently</a:t>
            </a:r>
          </a:p>
        </p:txBody>
      </p:sp>
    </p:spTree>
    <p:extLst>
      <p:ext uri="{BB962C8B-B14F-4D97-AF65-F5344CB8AC3E}">
        <p14:creationId xmlns:p14="http://schemas.microsoft.com/office/powerpoint/2010/main" val="90450749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C76732-5401-4CD2-9FFD-B991DF44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00770F-77E9-4B4C-835D-190A4FA1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D4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D42"/>
                </a:solidFill>
                <a:latin typeface="Arial"/>
                <a:ea typeface="Arial"/>
                <a:cs typeface="Arial"/>
              </a:rPr>
              <a:t>Use the framework. Challenge the claims. Extend the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857A8-B2E4-4EA2-8C2F-3429C2A0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2E4396-9285-4B75-B4DF-F346340F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A617B-0441-4782-9743-4CE87D14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5476875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19541-E8AD-40F1-AC2F-FCA1F516B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66A4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66A4E"/>
                </a:solidFill>
                <a:latin typeface="Arial"/>
                <a:ea typeface="Arial"/>
                <a:cs typeface="Arial"/>
              </a:rPr>
              <a:t>NOT YET EVIDENCED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293580-9E16-4D94-919C-CFD87DA6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5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• distributed linearizability</a:t>
            </a:r>
          </a:p>
          <a:p xmlns:a="http://schemas.openxmlformats.org/drawingml/2006/main">
            <a:pPr algn="l">
              <a:defRPr sz="150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• compromised host or signing authority</a:t>
            </a:r>
          </a:p>
          <a:p xmlns:a="http://schemas.openxmlformats.org/drawingml/2006/main">
            <a:pPr algn="l">
              <a:defRPr sz="150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• named-model stochastic attack rates</a:t>
            </a:r>
          </a:p>
          <a:p xmlns:a="http://schemas.openxmlformats.org/drawingml/2006/main">
            <a:pPr algn="l">
              <a:defRPr sz="150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• reviewer accuracy, fairness, and access</a:t>
            </a:r>
          </a:p>
          <a:p xmlns:a="http://schemas.openxmlformats.org/drawingml/2006/main">
            <a:pPr algn="l">
              <a:defRPr sz="150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• cost, energy, and independent audit</a:t>
            </a:r>
          </a:p>
          <a:p xmlns:a="http://schemas.openxmlformats.org/drawingml/2006/main">
            <a:pPr algn="l">
              <a:defRPr sz="1500" b="0">
                <a:solidFill>
                  <a:srgbClr val="26343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43D"/>
                </a:solidFill>
                <a:latin typeface="Arial"/>
                <a:ea typeface="Arial"/>
                <a:cs typeface="Arial"/>
              </a:rPr>
              <a:t>• physical one-way transfer at a real site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E1076-548D-4DF7-85F5-505BBDEF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19250"/>
            <a:ext cx="48577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2D4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56292E-9721-4E80-A34E-E5137FC3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8859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5B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5B14C"/>
                </a:solidFill>
                <a:latin typeface="Arial"/>
                <a:ea typeface="Arial"/>
                <a:cs typeface="Arial"/>
              </a:rPr>
              <a:t>THE ADOPTION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2725D-2AC8-4590-9872-33623337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95550"/>
            <a:ext cx="4095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If you cannot name the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enforcement point, failure test,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recovery owner—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 not automate the power.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47CEFC-A7A5-4A40-8035-896BFA08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7687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07F7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F7A"/>
                </a:solidFill>
                <a:latin typeface="Arial"/>
                <a:ea typeface="Arial"/>
                <a:cs typeface="Arial"/>
              </a:rPr>
              <a:t>github.com/genaiworks/fssai-ra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8EA4A-D36E-4240-B1A4-AC14F82C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9817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798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985"/>
                </a:solidFill>
                <a:latin typeface="Arial"/>
                <a:ea typeface="Arial"/>
                <a:cs typeface="Arial"/>
              </a:rPr>
              <a:t>Apache 2.0  •  runnable offline  •  extension guide  •  verifiable result files</a:t>
            </a:r>
          </a:p>
        </p:txBody>
      </p:sp>
    </p:spTree>
    <p:extLst>
      <p:ext uri="{BB962C8B-B14F-4D97-AF65-F5344CB8AC3E}">
        <p14:creationId xmlns:p14="http://schemas.microsoft.com/office/powerpoint/2010/main" val="13808859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2026-09-11T14:43:57.6330000Z</dcterms:created>
  <dcterms:modified xsi:type="dcterms:W3CDTF">2026-09-11T14:43:57.6330000Z</dcterms:modified>
</coreProperties>
</file>