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018f02f9664ac1" /><Relationship Type="http://schemas.openxmlformats.org/officeDocument/2006/relationships/extended-properties" Target="/docProps/app.xml" Id="R2c42882fa2dd4111" /><Relationship Type="http://schemas.openxmlformats.org/officeDocument/2006/relationships/officeDocument" Target="/ppt/presentation.xml" Id="R0c6c1d1ae4264716" /></Relationships>
</file>

<file path=ppt/presentation.xml><?xml version="1.0" encoding="utf-8"?>
<p:presentation xmlns:p="http://schemas.openxmlformats.org/presentationml/2006/main">
  <p:sldMasterIdLst>
    <p:sldMasterId xmlns:r="http://schemas.openxmlformats.org/officeDocument/2006/relationships" id="2147483648" r:id="R74d777ced15e4279"/>
  </p:sldMasterIdLst>
  <p:notesMasterIdLst>
    <p:notesMasterId xmlns:r="http://schemas.openxmlformats.org/officeDocument/2006/relationships" r:id="Radf6a2c552e54b95"/>
  </p:notesMasterIdLst>
  <p:sldIdLst>
    <p:sldId xmlns:r="http://schemas.openxmlformats.org/officeDocument/2006/relationships" id="256" r:id="Rb92c738d06ec4263"/>
    <p:sldId xmlns:r="http://schemas.openxmlformats.org/officeDocument/2006/relationships" id="257" r:id="Rdf74a356462d4ed4"/>
    <p:sldId xmlns:r="http://schemas.openxmlformats.org/officeDocument/2006/relationships" id="258" r:id="R8162127d6a5a4420"/>
    <p:sldId xmlns:r="http://schemas.openxmlformats.org/officeDocument/2006/relationships" id="259" r:id="Rf77c1bafd29c408e"/>
    <p:sldId xmlns:r="http://schemas.openxmlformats.org/officeDocument/2006/relationships" id="260" r:id="R750eadc691524c13"/>
    <p:sldId xmlns:r="http://schemas.openxmlformats.org/officeDocument/2006/relationships" id="261" r:id="R4d6f6baa003e42cd"/>
    <p:sldId xmlns:r="http://schemas.openxmlformats.org/officeDocument/2006/relationships" id="262" r:id="Rd4f026e6ed414dd7"/>
    <p:sldId xmlns:r="http://schemas.openxmlformats.org/officeDocument/2006/relationships" id="263" r:id="Raeb10f24ac374c7d"/>
    <p:sldId xmlns:r="http://schemas.openxmlformats.org/officeDocument/2006/relationships" id="264" r:id="R2f4697d8e8f1460d"/>
    <p:sldId xmlns:r="http://schemas.openxmlformats.org/officeDocument/2006/relationships" id="265" r:id="Rfcda56f75d714fdf"/>
    <p:sldId xmlns:r="http://schemas.openxmlformats.org/officeDocument/2006/relationships" id="266" r:id="R638e897af0104be8"/>
    <p:sldId xmlns:r="http://schemas.openxmlformats.org/officeDocument/2006/relationships" id="267" r:id="R43522be1d81044ff"/>
    <p:sldId xmlns:r="http://schemas.openxmlformats.org/officeDocument/2006/relationships" id="268" r:id="Reb3f83b7e64d48af"/>
    <p:sldId xmlns:r="http://schemas.openxmlformats.org/officeDocument/2006/relationships" id="269" r:id="R6065ef1950264f0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26b938c7e14e21" /><Relationship Type="http://schemas.openxmlformats.org/officeDocument/2006/relationships/slideMaster" Target="/ppt/slideMasters/slideMaster1.xml" Id="R74d777ced15e4279" /><Relationship Type="http://schemas.openxmlformats.org/officeDocument/2006/relationships/notesMaster" Target="/ppt/notesMasters/notesMaster1.xml" Id="Radf6a2c552e54b95" /><Relationship Type="http://schemas.openxmlformats.org/officeDocument/2006/relationships/presProps" Target="/ppt/presProps.xml" Id="Rbcef7585336043df" /><Relationship Type="http://schemas.openxmlformats.org/officeDocument/2006/relationships/tableStyles" Target="/ppt/tableStyles.xml" Id="R895bf019db644df2" /><Relationship Type="http://schemas.openxmlformats.org/officeDocument/2006/relationships/slide" Target="/ppt/slides/slide1.xml" Id="Rb92c738d06ec4263" /><Relationship Type="http://schemas.openxmlformats.org/officeDocument/2006/relationships/slide" Target="/ppt/slides/slide2.xml" Id="Rdf74a356462d4ed4" /><Relationship Type="http://schemas.openxmlformats.org/officeDocument/2006/relationships/slide" Target="/ppt/slides/slide3.xml" Id="R8162127d6a5a4420" /><Relationship Type="http://schemas.openxmlformats.org/officeDocument/2006/relationships/slide" Target="/ppt/slides/slide4.xml" Id="Rf77c1bafd29c408e" /><Relationship Type="http://schemas.openxmlformats.org/officeDocument/2006/relationships/slide" Target="/ppt/slides/slide5.xml" Id="R750eadc691524c13" /><Relationship Type="http://schemas.openxmlformats.org/officeDocument/2006/relationships/slide" Target="/ppt/slides/slide6.xml" Id="R4d6f6baa003e42cd" /><Relationship Type="http://schemas.openxmlformats.org/officeDocument/2006/relationships/slide" Target="/ppt/slides/slide7.xml" Id="Rd4f026e6ed414dd7" /><Relationship Type="http://schemas.openxmlformats.org/officeDocument/2006/relationships/slide" Target="/ppt/slides/slide8.xml" Id="Raeb10f24ac374c7d" /><Relationship Type="http://schemas.openxmlformats.org/officeDocument/2006/relationships/slide" Target="/ppt/slides/slide9.xml" Id="R2f4697d8e8f1460d" /><Relationship Type="http://schemas.openxmlformats.org/officeDocument/2006/relationships/slide" Target="/ppt/slides/slide10.xml" Id="Rfcda56f75d714fdf" /><Relationship Type="http://schemas.openxmlformats.org/officeDocument/2006/relationships/slide" Target="/ppt/slides/slide11.xml" Id="R638e897af0104be8" /><Relationship Type="http://schemas.openxmlformats.org/officeDocument/2006/relationships/slide" Target="/ppt/slides/slide12.xml" Id="R43522be1d81044ff" /><Relationship Type="http://schemas.openxmlformats.org/officeDocument/2006/relationships/slide" Target="/ppt/slides/slide13.xml" Id="Reb3f83b7e64d48af" /><Relationship Type="http://schemas.openxmlformats.org/officeDocument/2006/relationships/slide" Target="/ppt/slides/slide14.xml" Id="R6065ef1950264f0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0866d688f7b44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ea253688a74f94" /><Relationship Type="http://schemas.openxmlformats.org/officeDocument/2006/relationships/notesMaster" Target="/ppt/notesMasters/notesMaster1.xml" Id="R6084c88c17fd4d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746b7a27d64cde" /><Relationship Type="http://schemas.openxmlformats.org/officeDocument/2006/relationships/notesMaster" Target="/ppt/notesMasters/notesMaster1.xml" Id="Rcedcc896e5e7475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acfec9fc5244aa" /><Relationship Type="http://schemas.openxmlformats.org/officeDocument/2006/relationships/notesMaster" Target="/ppt/notesMasters/notesMaster1.xml" Id="R069929ce405745a5"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f2665abfb849b1" /><Relationship Type="http://schemas.openxmlformats.org/officeDocument/2006/relationships/notesMaster" Target="/ppt/notesMasters/notesMaster1.xml" Id="R9ab854db65674a07"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365fd99cca4a1c" /><Relationship Type="http://schemas.openxmlformats.org/officeDocument/2006/relationships/notesMaster" Target="/ppt/notesMasters/notesMaster1.xml" Id="R7872191fa8314d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c05a22b70547da" /><Relationship Type="http://schemas.openxmlformats.org/officeDocument/2006/relationships/notesMaster" Target="/ppt/notesMasters/notesMaster1.xml" Id="R2662f0a594bc4f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c87fbf8ab134fb8" /><Relationship Type="http://schemas.openxmlformats.org/officeDocument/2006/relationships/notesMaster" Target="/ppt/notesMasters/notesMaster1.xml" Id="R4997c6f9c63648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305f7dbc584cf7" /><Relationship Type="http://schemas.openxmlformats.org/officeDocument/2006/relationships/notesMaster" Target="/ppt/notesMasters/notesMaster1.xml" Id="R29270ddc80b146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ce16551705429d" /><Relationship Type="http://schemas.openxmlformats.org/officeDocument/2006/relationships/notesMaster" Target="/ppt/notesMasters/notesMaster1.xml" Id="Rb6b9eb5428c342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ad92f2489542bf" /><Relationship Type="http://schemas.openxmlformats.org/officeDocument/2006/relationships/notesMaster" Target="/ppt/notesMasters/notesMaster1.xml" Id="Racce7c9c0c874aa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5de01aea0ee4116" /><Relationship Type="http://schemas.openxmlformats.org/officeDocument/2006/relationships/notesMaster" Target="/ppt/notesMasters/notesMaster1.xml" Id="R325951ac914b4fc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c8c5073804b4223" /><Relationship Type="http://schemas.openxmlformats.org/officeDocument/2006/relationships/notesMaster" Target="/ppt/notesMasters/notesMaster1.xml" Id="R26b6b318ed644f4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067b2adec34b0b" /><Relationship Type="http://schemas.openxmlformats.org/officeDocument/2006/relationships/notesMaster" Target="/ppt/notesMasters/notesMaster1.xml" Id="R584cd38e7a87488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7be567c2eb4473" /><Relationship Type="http://schemas.openxmlformats.org/officeDocument/2006/relationships/notesMaster" Target="/ppt/notesMasters/notesMaster1.xml" Id="R02b7f5b631ea4d9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 seconds.</a:t>
            </a:r>
          </a:p>
          <a:p xmlns:a="http://schemas.openxmlformats.org/drawingml/2006/main">
            <a:r>
              <a:t>Trust by Construction asks a practical institutional question: what powers should we give an AI agent, and what happens when it gets something wrong? I will use one student-support case to explain a proposed architecture and the tests we intend to release openly.</a:t>
            </a:r>
          </a:p>
          <a:p xmlns:a="http://schemas.openxmlformats.org/drawingml/2006/main">
            <a:r>
              <a:t>Source: proposed contribution based on the supplied draft. Conference theme and dates: https://unu.edu/macau/news/unu-macau-ai-conference-2026-become-sponsor . The illustration is conceptual and does not depict a real installation.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 seconds.</a:t>
            </a:r>
          </a:p>
          <a:p xmlns:a="http://schemas.openxmlformats.org/drawingml/2006/main">
            <a:r>
              <a:t>Imagine a student applying for support. The agent reads the application and retrieves the university's guidance. One uploaded document contains an instruction to approve the case and export the records. We can ask whether the model notices the attack. But the institution needs a second answer: if the model follows it, what can the system actually do? This synthetic scenario is our running example. We measure the resulting permissions and actions, not just whether the answer sounds safe.</a:t>
            </a:r>
          </a:p>
          <a:p xmlns:a="http://schemas.openxmlformats.org/drawingml/2006/main">
            <a:r>
              <a:t>Sources: illustrative scenario created for this proposal; risk context: https://genai.owasp.org/resource/owasp-top-10-for-agentic-applications-for-2026/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 seconds.</a:t>
            </a:r>
          </a:p>
          <a:p xmlns:a="http://schemas.openxmlformats.org/drawingml/2006/main">
            <a:r>
              <a:t>Our proposed claim is deliberately bounded. A compromised agent should not obtain powers beyond its assigned case and tools while independent enforcement services remain intact. Local hosting alone does not establish this. We must protect the executor, identity configuration, keys, and evidence administration. A shared root administrator can defeat a single-host teaching setup. We also distinguish authorization from quality: a permitted action can still be based on an inaccurate recommendation.</a:t>
            </a:r>
          </a:p>
          <a:p xmlns:a="http://schemas.openxmlformats.org/drawingml/2006/main">
            <a:r>
              <a:t>Sources: proposed assurance scope; https://doi.org/10.6028/NIST.SP.800-207 and https://doi.org/10.6028/NIST.AI.600-1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 seconds.</a:t>
            </a:r>
          </a:p>
          <a:p xmlns:a="http://schemas.openxmlformats.org/drawingml/2006/main">
            <a:r>
              <a:t>The five domains are responsibilities, not a mandatory product stack. Import controls what enters. Transport tracks accepted items through restart and replay. Evidence preserves the data and passages used. Bounded assistance gives the agent only its assigned case and tools. Accountable action puts a separate executor between a proposal and a state change. Identity, policy administration, keys, and evidence custody cross these domains. Their protection determines whether separation is real. A small teaching profile can demonstrate the contract before an institution invests in larger infrastructure.</a:t>
            </a:r>
          </a:p>
          <a:p xmlns:a="http://schemas.openxmlformats.org/drawingml/2006/main">
            <a:r>
              <a:t>Sources: original architectural synthesis; NIST zero trust https://doi.org/10.6028/NIST.SP.800-207 . Optional adapter documentation: https://kafka.apache.org/41/design/design/ and https://iceberg.apache.org/docs/latest/maintenance/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 seconds.</a:t>
            </a:r>
          </a:p>
          <a:p xmlns:a="http://schemas.openxmlformats.org/drawingml/2006/main">
            <a:r>
              <a:t>The most useful implementation rule is simple: approval applies to an exact action. The officer must see the student case, the proposed change, the evidence, and its limitations. The executor checks the actual target and arguments against that approval, verifies its expiry and authority, and checks the record has not changed. Changing the target or the operation requires a new approval. The model's explanation cannot supply permission. A student's right to correction also needs a human process, because cryptographic approval does not make a policy fair.</a:t>
            </a:r>
          </a:p>
          <a:p xmlns:a="http://schemas.openxmlformats.org/drawingml/2006/main">
            <a:r>
              <a:t>Source: proposed authorization contract. Related runtime controls: https://genai.owasp.org/resource/agent-control-standard-acs/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60 seconds.</a:t>
            </a:r>
          </a:p>
          <a:p xmlns:a="http://schemas.openxmlformats.org/drawingml/2006/main">
            <a:r>
              <a:t>Here is the demonstration we plan to publish. An officer approves moving synthetic case S-104 into a review-ready state. We then change the target after approval. The executor should reject the mismatch and leave the register untouched. With the unchanged proposal, it should commit once. Repeating the same execution should return the original outcome without another mutation. We then inspect the evidence. These are expected behaviors, not benchmark results. The final demonstration must show actual captured output from a named release. A scripted malicious request tests enforcement; a separate model experiment tests whether injection can induce that request.</a:t>
            </a:r>
          </a:p>
          <a:p xmlns:a="http://schemas.openxmlformats.org/drawingml/2006/main">
            <a:r>
              <a:t>Source: proposed synthetic demonstration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 seconds.</a:t>
            </a:r>
          </a:p>
          <a:p xmlns:a="http://schemas.openxmlformats.org/drawingml/2006/main">
            <a:r>
              <a:t>Fail-secure behavior has a service consequence. If the required authorization or intent-evidence service is unavailable, the system must not start a consequential automated action. But a student should not lose access to support. A named manual route handles urgent cases with its own authority and records. If a failure occurs after a change may already have committed, we reconcile the outcome before retrying. We cannot assume every external action is reversible. Continuity and recovery are part of the design, not exceptions hidden in a runbook.</a:t>
            </a:r>
          </a:p>
          <a:p xmlns:a="http://schemas.openxmlformats.org/drawingml/2006/main">
            <a:r>
              <a:t>Source: proposed failure and continuity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 seconds.</a:t>
            </a:r>
          </a:p>
          <a:p xmlns:a="http://schemas.openxmlformats.org/drawingml/2006/main">
            <a:r>
              <a:t>An audit record should help someone understand and challenge a result. We retain the actual sources and passages used, the recorded recommendation, the policy decision, the exact approval, and the action receipt. A hash is only useful if the referenced content remains available. We also need independent checks for missing or truncated history. Reconstruction is different from generating identical text again. Protect the evidence itself, because excessive logging can create another collection of sensitive student information. A human correction should become part of the case history.</a:t>
            </a:r>
          </a:p>
          <a:p xmlns:a="http://schemas.openxmlformats.org/drawingml/2006/main">
            <a:r>
              <a:t>Sources: proposed evidence specification; snapshot retention context: https://iceberg.apache.org/docs/latest/maintenance/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 seconds.</a:t>
            </a:r>
          </a:p>
          <a:p xmlns:a="http://schemas.openxmlformats.org/drawingml/2006/main">
            <a:r>
              <a:t>We will compare model-only guardrails, the complete declared configuration, and variants that remove one control. The same tasks and attack inputs will run in a synthetic sandbox. We count prohibited actions and disclosures, but also legitimate completion, false denials, evidence reconstruction, approval delay, and staff effort. A system that refuses everything is not a useful success. We will publish denominators, configurations, and uncertainty. Zero observed violations only describes the tested sample. We report no completed benchmark in this abstract.</a:t>
            </a:r>
          </a:p>
          <a:p xmlns:a="http://schemas.openxmlformats.org/drawingml/2006/main">
            <a:r>
              <a:t>Sources: proposed evaluation design; risk context https://doi.org/10.6028/NIST.AI.600-1 and https://genai.owasp.org/resource/owasp-top-10-for-agentic-applications-for-2026/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55 seconds.</a:t>
            </a:r>
          </a:p>
          <a:p xmlns:a="http://schemas.openxmlformats.org/drawingml/2006/main">
            <a:r>
              <a:t>The planned GitHub release joins the contract, synthetic workflow, executable tests, and recovery instructions. Institutions can start with one service and one accountable owner. The laptop profile teaches the boundaries; a pilot needs stronger administrative separation and local operational review. Students and staff can learn to identify a trust boundary, test it, and inspect the evidence. That connects AI for Learning with Learning for AI. Institutions can share test cases and improvements without sharing student records. Costs, reviewer burden, and energy use must be measured locally.</a:t>
            </a:r>
          </a:p>
          <a:p xmlns:a="http://schemas.openxmlformats.org/drawingml/2006/main">
            <a:r>
              <a:t>Sources: proposed release plan; conference theme https://unu.edu/macau/news/unu-macau-ai-conference-2026-become-sponsor ; capacity context https://www.unesco.org/en/articles/ai-competency-framework-teachers and https://www.un.org/pact-for-the-future/en/annex-i-global-digital-compact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25 seconds.</a:t>
            </a:r>
          </a:p>
          <a:p xmlns:a="http://schemas.openxmlformats.org/drawingml/2006/main">
            <a:r>
              <a:t>For the next agent your institution adopts, ask for a failure test. Show the action it must refuse, the evidence you will retain, and who restores the service. That is a concrete place to begin shared capacity. Our proposed open testbed gives institutions a way to practice and compare those obligations. Thank you.</a:t>
            </a:r>
          </a:p>
          <a:p xmlns:a="http://schemas.openxmlformats.org/drawingml/2006/main">
            <a:r>
              <a:t>Source: author's proposed institutional adoption criterion.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a:t>
            </a:r>
          </a:p>
          <a:p xmlns:a="http://schemas.openxmlformats.org/drawingml/2006/main">
            <a:r>
              <a:t>The specified attacker can control an input document or the agent process. The assurance depends on intact enforcement and protected control-plane administration. Shared-host root access, compromised identity/key administration, or colluding control owners can defeat these assumptions. Formal authorization does not ensure the truth of evidence or the fairness of eligibility policy. Manual continuity must not become an unlogged administrative bypass. A release report should identify control dependencies and deployment-specific exclusions.</a:t>
            </a:r>
          </a:p>
          <a:p xmlns:a="http://schemas.openxmlformats.org/drawingml/2006/main">
            <a:r>
              <a:t>Sources: proposed threat model; https://doi.org/10.6028/NIST.SP.800-207 and https://doi.org/10.6028/NIST.AI.600-1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a:t>
            </a:r>
          </a:p>
          <a:p xmlns:a="http://schemas.openxmlformats.org/drawingml/2006/main">
            <a:r>
              <a:t>The teaching profile uses synthetic data and may share a host. It must disclose that weakness. The institutional profile separates operational roles, credentials, policy administration, and evidence custody and requires recovery exercises. A hardware-isolated profile adds an import gateway where justified. Its physical directionality concerns the specified link only; all other paths still need control. Kafka, Spark, and Iceberg are optional adapters when scale requires them. Passing a smaller profile does not establish the larger profile's guarantees.</a:t>
            </a:r>
          </a:p>
          <a:p xmlns:a="http://schemas.openxmlformats.org/drawingml/2006/main">
            <a:r>
              <a:t>Source: proposed deployment profiles; adapter references https://kafka.apache.org/41/design/design/ and https://iceberg.apache.org/docs/latest/maintenance/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a:t>
            </a:r>
          </a:p>
          <a:p xmlns:a="http://schemas.openxmlformats.org/drawingml/2006/main">
            <a:r>
              <a:t>This contribution applies established principles. NIST supplies risk and authorization foundations. OWASP supplies agent threat guidance and portable runtime control work. Our proposed contribution connects these to one educational workflow, testable authority boundaries, evidence reconstruction, human review, and recovery ownership. We do not claim first-of-kind architecture, OWASP ACS compatibility, certification, or measured results. Any ACS adapter would need conformance testing.</a:t>
            </a:r>
          </a:p>
          <a:p xmlns:a="http://schemas.openxmlformats.org/drawingml/2006/main">
            <a:r>
              <a:t>Sources: NIST SP 800-207 https://doi.org/10.6028/NIST.SP.800-207 ; NIST AI 600-1 https://doi.org/10.6028/NIST.AI.600-1 ; OWASP Agentic Top 10 https://genai.owasp.org/resource/owasp-top-10-for-agentic-applications-for-2026/ ; OWASP ACS, resource page published 1 September 2026, https://genai.owasp.org/resource/agent-control-standard-acs/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d9f8379121447c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a7be38adab48aa" /><Relationship Type="http://schemas.openxmlformats.org/officeDocument/2006/relationships/slideLayout" Target="/ppt/slideLayouts/slideLayout1.xml" Id="R01a585001843425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1a585001843425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8e9fa0c31544dab" /><Relationship Type="http://schemas.openxmlformats.org/officeDocument/2006/relationships/image" Target="/ppt/media/image.png" Id="R5b915da9d29c436f" /><Relationship Type="http://schemas.openxmlformats.org/officeDocument/2006/relationships/notesSlide" Target="/ppt/notesSlides/notesSlide1.xml" Id="R084afa0370644a6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d9e77e345846b4" /><Relationship Type="http://schemas.openxmlformats.org/officeDocument/2006/relationships/notesSlide" Target="/ppt/notesSlides/notesSlide2.xml" Id="Rddb498e3bcdd47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87e9a26a81548b2" /><Relationship Type="http://schemas.openxmlformats.org/officeDocument/2006/relationships/notesSlide" Target="/ppt/notesSlides/notesSlide3.xml" Id="R554be91b728245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9bcf8023773443c" /><Relationship Type="http://schemas.openxmlformats.org/officeDocument/2006/relationships/notesSlide" Target="/ppt/notesSlides/notesSlide4.xml" Id="Rab869a0a66aa47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c870d68d1344e66" /><Relationship Type="http://schemas.openxmlformats.org/officeDocument/2006/relationships/notesSlide" Target="/ppt/notesSlides/notesSlide5.xml" Id="R587004106bbe4fc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3e7d230ad3d4a89" /><Relationship Type="http://schemas.openxmlformats.org/officeDocument/2006/relationships/notesSlide" Target="/ppt/notesSlides/notesSlide6.xml" Id="R5b6d0da5d3d54e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051c4cf6d7c47ce" /><Relationship Type="http://schemas.openxmlformats.org/officeDocument/2006/relationships/notesSlide" Target="/ppt/notesSlides/notesSlide7.xml" Id="R6045939ac9a648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88c7e0055044a87" /><Relationship Type="http://schemas.openxmlformats.org/officeDocument/2006/relationships/notesSlide" Target="/ppt/notesSlides/notesSlide8.xml" Id="Rb7d524ef9dff49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2eae45624a543ea" /><Relationship Type="http://schemas.openxmlformats.org/officeDocument/2006/relationships/notesSlide" Target="/ppt/notesSlides/notesSlide9.xml" Id="R01f11aad824c43b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a4229e3c7ba4a84" /><Relationship Type="http://schemas.openxmlformats.org/officeDocument/2006/relationships/notesSlide" Target="/ppt/notesSlides/notesSlide10.xml" Id="R88101f10e07e49d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76ea369df244bb0" /><Relationship Type="http://schemas.openxmlformats.org/officeDocument/2006/relationships/notesSlide" Target="/ppt/notesSlides/notesSlide11.xml" Id="R67b05d38b5f849b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61ba1e9be8e4797" /><Relationship Type="http://schemas.openxmlformats.org/officeDocument/2006/relationships/notesSlide" Target="/ppt/notesSlides/notesSlide12.xml" Id="Rcf410784f0bf468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31ebe367973471a" /><Relationship Type="http://schemas.openxmlformats.org/officeDocument/2006/relationships/notesSlide" Target="/ppt/notesSlides/notesSlide13.xml" Id="Rf97dbfb4ca044e2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56c82296d634260" /><Relationship Type="http://schemas.openxmlformats.org/officeDocument/2006/relationships/notesSlide" Target="/ppt/notesSlides/notesSlide14.xml" Id="R929fe5a0481c4322" /></Relationships>
</file>

<file path=ppt/slides/slide1.xml><?xml version="1.0" encoding="utf-8"?>
<p:sld xmlns:p="http://schemas.openxmlformats.org/presentationml/2006/main">
  <p:cSld>
    <p:bg>
      <p:bgPr>
        <a:solidFill xmlns:a="http://schemas.openxmlformats.org/drawingml/2006/main">
          <a:srgbClr val="101D2B"/>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5b915da9d29c436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DFDE617-0A83-4A62-9B7F-CF914E55E459}"/>
              </a:ext>
            </a:extLst>
          </p:cNvPr>
          <p:cNvSpPr>
            <a:spLocks xmlns:a="http://schemas.openxmlformats.org/drawingml/2006/main" noGrp="1"/>
          </p:cNvSpPr>
          <p:nvPr/>
        </p:nvSpPr>
        <p:spPr>
          <a:xfrm xmlns:a="http://schemas.openxmlformats.org/drawingml/2006/main">
            <a:off x="666750" y="1600200"/>
            <a:ext cx="6048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1">
                <a:solidFill>
                  <a:srgbClr val="FFFFFF"/>
                </a:solidFill>
                <a:latin typeface="Helvetica Neue"/>
                <a:ea typeface="Helvetica Neue"/>
                <a:cs typeface="Helvetica Neue"/>
              </a:defRPr>
            </a:pPr>
            <a:r>
              <a:rPr sz="5250" b="1">
                <a:solidFill>
                  <a:srgbClr val="FFFFFF"/>
                </a:solidFill>
                <a:latin typeface="Helvetica Neue"/>
                <a:ea typeface="Helvetica Neue"/>
                <a:cs typeface="Helvetica Neue"/>
              </a:rPr>
              <a:t>Trust by</a:t>
            </a:r>
          </a:p>
          <a:p xmlns:a="http://schemas.openxmlformats.org/drawingml/2006/main">
            <a:pPr>
              <a:defRPr sz="5250" b="1">
                <a:solidFill>
                  <a:srgbClr val="FFFFFF"/>
                </a:solidFill>
                <a:latin typeface="Helvetica Neue"/>
                <a:ea typeface="Helvetica Neue"/>
                <a:cs typeface="Helvetica Neue"/>
              </a:defRPr>
            </a:pPr>
            <a:r>
              <a:rPr sz="5250" b="1">
                <a:solidFill>
                  <a:srgbClr val="FFFFFF"/>
                </a:solidFill>
                <a:latin typeface="Helvetica Neue"/>
                <a:ea typeface="Helvetica Neue"/>
                <a:cs typeface="Helvetica Neue"/>
              </a:rPr>
              <a:t>Construction</a:t>
            </a:r>
          </a:p>
        </p:txBody>
      </p:sp>
      <p:sp>
        <p:nvSpPr>
          <p:cNvPr id="3" name="">
            <a:extLst xmlns:a="http://schemas.openxmlformats.org/drawingml/2006/main">
              <a:ext uri="{FF2B5EF4-FFF2-40B4-BE49-F238E27FC236}">
                <a16:creationId xmlns:a16="http://schemas.microsoft.com/office/drawing/2014/main" id="{920E9E30-0109-4F90-9BB3-E74165858743}"/>
              </a:ext>
            </a:extLst>
          </p:cNvPr>
          <p:cNvSpPr>
            <a:spLocks xmlns:a="http://schemas.openxmlformats.org/drawingml/2006/main" noGrp="1"/>
          </p:cNvSpPr>
          <p:nvPr/>
        </p:nvSpPr>
        <p:spPr>
          <a:xfrm xmlns:a="http://schemas.openxmlformats.org/drawingml/2006/main">
            <a:off x="704850" y="3686175"/>
            <a:ext cx="5810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FFFFFF"/>
                </a:solidFill>
                <a:latin typeface="Helvetica Neue"/>
                <a:ea typeface="Helvetica Neue"/>
                <a:cs typeface="Helvetica Neue"/>
              </a:defRPr>
            </a:pPr>
            <a:r>
              <a:rPr sz="2550" b="0">
                <a:solidFill>
                  <a:srgbClr val="FFFFFF"/>
                </a:solidFill>
                <a:latin typeface="Helvetica Neue"/>
                <a:ea typeface="Helvetica Neue"/>
                <a:cs typeface="Helvetica Neue"/>
              </a:rPr>
              <a:t>A testable architecture for</a:t>
            </a:r>
          </a:p>
          <a:p xmlns:a="http://schemas.openxmlformats.org/drawingml/2006/main">
            <a:pPr>
              <a:defRPr sz="2550" b="0">
                <a:solidFill>
                  <a:srgbClr val="FFFFFF"/>
                </a:solidFill>
                <a:latin typeface="Helvetica Neue"/>
                <a:ea typeface="Helvetica Neue"/>
                <a:cs typeface="Helvetica Neue"/>
              </a:defRPr>
            </a:pPr>
            <a:r>
              <a:rPr sz="2550" b="0">
                <a:solidFill>
                  <a:srgbClr val="FFFFFF"/>
                </a:solidFill>
                <a:latin typeface="Helvetica Neue"/>
                <a:ea typeface="Helvetica Neue"/>
                <a:cs typeface="Helvetica Neue"/>
              </a:rPr>
              <a:t>sovereign AI agents in education</a:t>
            </a:r>
          </a:p>
        </p:txBody>
      </p:sp>
      <p:sp>
        <p:nvSpPr>
          <p:cNvPr id="4" name="">
            <a:extLst xmlns:a="http://schemas.openxmlformats.org/drawingml/2006/main">
              <a:ext uri="{FF2B5EF4-FFF2-40B4-BE49-F238E27FC236}">
                <a16:creationId xmlns:a16="http://schemas.microsoft.com/office/drawing/2014/main" id="{AFE2DA37-6650-4FBB-9D2A-8A8F9AC61052}"/>
              </a:ext>
            </a:extLst>
          </p:cNvPr>
          <p:cNvSpPr>
            <a:spLocks xmlns:a="http://schemas.openxmlformats.org/drawingml/2006/main" noGrp="1"/>
          </p:cNvSpPr>
          <p:nvPr/>
        </p:nvSpPr>
        <p:spPr>
          <a:xfrm xmlns:a="http://schemas.openxmlformats.org/drawingml/2006/main">
            <a:off x="704850" y="5876925"/>
            <a:ext cx="5857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7BD8CB"/>
                </a:solidFill>
                <a:latin typeface="Helvetica Neue"/>
                <a:ea typeface="Helvetica Neue"/>
                <a:cs typeface="Helvetica Neue"/>
              </a:defRPr>
            </a:pPr>
            <a:r>
              <a:rPr sz="1725" b="0">
                <a:solidFill>
                  <a:srgbClr val="7BD8CB"/>
                </a:solidFill>
                <a:latin typeface="Helvetica Neue"/>
                <a:ea typeface="Helvetica Neue"/>
                <a:cs typeface="Helvetica Neue"/>
              </a:rPr>
              <a:t>UNU Macau AI Conference 2026</a:t>
            </a:r>
          </a:p>
        </p:txBody>
      </p:sp>
    </p:spTree>
    <p:extLst>
      <p:ext uri="{BB962C8B-B14F-4D97-AF65-F5344CB8AC3E}">
        <p14:creationId xmlns:p14="http://schemas.microsoft.com/office/powerpoint/2010/main" val="1091895527"/>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D8AE511-BEAB-495B-9CA5-C416C13201A0}"/>
              </a:ext>
            </a:extLst>
          </p:cNvPr>
          <p:cNvSpPr>
            <a:spLocks xmlns:a="http://schemas.openxmlformats.org/drawingml/2006/main" noGrp="1"/>
          </p:cNvSpPr>
          <p:nvPr/>
        </p:nvSpPr>
        <p:spPr>
          <a:xfrm xmlns:a="http://schemas.openxmlformats.org/drawingml/2006/main">
            <a:off x="685800" y="590550"/>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A document can influence a decision</a:t>
            </a:r>
          </a:p>
        </p:txBody>
      </p:sp>
      <p:sp>
        <p:nvSpPr>
          <p:cNvPr id="2" name="">
            <a:extLst xmlns:a="http://schemas.openxmlformats.org/drawingml/2006/main">
              <a:ext uri="{FF2B5EF4-FFF2-40B4-BE49-F238E27FC236}">
                <a16:creationId xmlns:a16="http://schemas.microsoft.com/office/drawing/2014/main" id="{C68B3010-6602-46DF-B735-EDF13A2D2B22}"/>
              </a:ext>
            </a:extLst>
          </p:cNvPr>
          <p:cNvSpPr>
            <a:spLocks xmlns:a="http://schemas.openxmlformats.org/drawingml/2006/main" noGrp="1"/>
          </p:cNvSpPr>
          <p:nvPr/>
        </p:nvSpPr>
        <p:spPr>
          <a:xfrm xmlns:a="http://schemas.openxmlformats.org/drawingml/2006/main">
            <a:off x="685800" y="2066925"/>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A39"/>
                </a:solidFill>
                <a:latin typeface="Helvetica Neue"/>
                <a:ea typeface="Helvetica Neue"/>
                <a:cs typeface="Helvetica Neue"/>
              </a:defRPr>
            </a:pPr>
            <a:r>
              <a:rPr sz="3225" b="1">
                <a:solidFill>
                  <a:srgbClr val="102A39"/>
                </a:solidFill>
                <a:latin typeface="Helvetica Neue"/>
                <a:ea typeface="Helvetica Neue"/>
                <a:cs typeface="Helvetica Neue"/>
              </a:rPr>
              <a:t>A student asks for support.</a:t>
            </a:r>
          </a:p>
        </p:txBody>
      </p:sp>
      <p:sp>
        <p:nvSpPr>
          <p:cNvPr id="3" name="">
            <a:extLst xmlns:a="http://schemas.openxmlformats.org/drawingml/2006/main">
              <a:ext uri="{FF2B5EF4-FFF2-40B4-BE49-F238E27FC236}">
                <a16:creationId xmlns:a16="http://schemas.microsoft.com/office/drawing/2014/main" id="{4C846BEE-F409-4396-9F04-4895ECCE847B}"/>
              </a:ext>
            </a:extLst>
          </p:cNvPr>
          <p:cNvSpPr>
            <a:spLocks xmlns:a="http://schemas.openxmlformats.org/drawingml/2006/main" noGrp="1"/>
          </p:cNvSpPr>
          <p:nvPr/>
        </p:nvSpPr>
        <p:spPr>
          <a:xfrm xmlns:a="http://schemas.openxmlformats.org/drawingml/2006/main">
            <a:off x="685800" y="3028950"/>
            <a:ext cx="1038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02A39"/>
                </a:solidFill>
                <a:latin typeface="Helvetica Neue"/>
                <a:ea typeface="Helvetica Neue"/>
                <a:cs typeface="Helvetica Neue"/>
              </a:defRPr>
            </a:pPr>
            <a:r>
              <a:rPr sz="2550" b="0">
                <a:solidFill>
                  <a:srgbClr val="102A39"/>
                </a:solidFill>
                <a:latin typeface="Helvetica Neue"/>
                <a:ea typeface="Helvetica Neue"/>
                <a:cs typeface="Helvetica Neue"/>
              </a:rPr>
              <a:t>The agent reads the case and drafts a recommendation.</a:t>
            </a:r>
          </a:p>
        </p:txBody>
      </p:sp>
      <p:sp>
        <p:nvSpPr>
          <p:cNvPr id="4" name="">
            <a:extLst xmlns:a="http://schemas.openxmlformats.org/drawingml/2006/main">
              <a:ext uri="{FF2B5EF4-FFF2-40B4-BE49-F238E27FC236}">
                <a16:creationId xmlns:a16="http://schemas.microsoft.com/office/drawing/2014/main" id="{5F179098-2BD4-44B2-AA54-63A670ED242C}"/>
              </a:ext>
            </a:extLst>
          </p:cNvPr>
          <p:cNvSpPr>
            <a:spLocks xmlns:a="http://schemas.openxmlformats.org/drawingml/2006/main" noGrp="1"/>
          </p:cNvSpPr>
          <p:nvPr/>
        </p:nvSpPr>
        <p:spPr>
          <a:xfrm xmlns:a="http://schemas.openxmlformats.org/drawingml/2006/main">
            <a:off x="685800" y="4086225"/>
            <a:ext cx="1038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8A4B14"/>
                </a:solidFill>
                <a:latin typeface="Helvetica Neue"/>
                <a:ea typeface="Helvetica Neue"/>
                <a:cs typeface="Helvetica Neue"/>
              </a:defRPr>
            </a:pPr>
            <a:r>
              <a:rPr sz="2550" b="0">
                <a:solidFill>
                  <a:srgbClr val="8A4B14"/>
                </a:solidFill>
                <a:latin typeface="Helvetica Neue"/>
                <a:ea typeface="Helvetica Neue"/>
                <a:cs typeface="Helvetica Neue"/>
              </a:rPr>
              <a:t>An uploaded document tries to redirect its actions.</a:t>
            </a:r>
          </a:p>
        </p:txBody>
      </p:sp>
      <p:sp>
        <p:nvSpPr>
          <p:cNvPr id="5" name="">
            <a:extLst xmlns:a="http://schemas.openxmlformats.org/drawingml/2006/main">
              <a:ext uri="{FF2B5EF4-FFF2-40B4-BE49-F238E27FC236}">
                <a16:creationId xmlns:a16="http://schemas.microsoft.com/office/drawing/2014/main" id="{7248F5D6-6374-4405-A33D-F6935444229D}"/>
              </a:ext>
            </a:extLst>
          </p:cNvPr>
          <p:cNvSpPr>
            <a:spLocks xmlns:a="http://schemas.openxmlformats.org/drawingml/2006/main" noGrp="1"/>
          </p:cNvSpPr>
          <p:nvPr/>
        </p:nvSpPr>
        <p:spPr>
          <a:xfrm xmlns:a="http://schemas.openxmlformats.org/drawingml/2006/main">
            <a:off x="6858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2636D"/>
                </a:solidFill>
                <a:latin typeface="Helvetica Neue"/>
                <a:ea typeface="Helvetica Neue"/>
                <a:cs typeface="Helvetica Neue"/>
              </a:defRPr>
            </a:pPr>
            <a:r>
              <a:rPr sz="1650" b="0">
                <a:solidFill>
                  <a:srgbClr val="52636D"/>
                </a:solidFill>
                <a:latin typeface="Helvetica Neue"/>
                <a:ea typeface="Helvetica Neue"/>
                <a:cs typeface="Helvetica Neue"/>
              </a:rPr>
              <a:t>Illustrative workflow using synthetic records</a:t>
            </a:r>
          </a:p>
        </p:txBody>
      </p:sp>
    </p:spTree>
    <p:extLst>
      <p:ext uri="{BB962C8B-B14F-4D97-AF65-F5344CB8AC3E}">
        <p14:creationId xmlns:p14="http://schemas.microsoft.com/office/powerpoint/2010/main" val="1011234815"/>
      </p:ext>
    </p:extLst>
  </p:cSld>
</p:sld>
</file>

<file path=ppt/slides/slide3.xml><?xml version="1.0" encoding="utf-8"?>
<p:sld xmlns:p="http://schemas.openxmlformats.org/presentationml/2006/main">
  <p:cSld>
    <p:bg>
      <p:bgPr>
        <a:solidFill xmlns:a="http://schemas.openxmlformats.org/drawingml/2006/main">
          <a:srgbClr val="101D2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8B72FCC-10E9-4240-A0DD-349B5FF6FD5B}"/>
              </a:ext>
            </a:extLst>
          </p:cNvPr>
          <p:cNvSpPr>
            <a:spLocks xmlns:a="http://schemas.openxmlformats.org/drawingml/2006/main" noGrp="1"/>
          </p:cNvSpPr>
          <p:nvPr/>
        </p:nvSpPr>
        <p:spPr>
          <a:xfrm xmlns:a="http://schemas.openxmlformats.org/drawingml/2006/main">
            <a:off x="685800" y="333375"/>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7BD8CB"/>
                </a:solidFill>
                <a:latin typeface="Helvetica Neue"/>
                <a:ea typeface="Helvetica Neue"/>
                <a:cs typeface="Helvetica Neue"/>
              </a:defRPr>
            </a:pPr>
            <a:r>
              <a:rPr sz="1425" b="1">
                <a:solidFill>
                  <a:srgbClr val="7BD8CB"/>
                </a:solidFill>
                <a:latin typeface="Helvetica Neue"/>
                <a:ea typeface="Helvetica Neue"/>
                <a:cs typeface="Helvetica Neue"/>
              </a:rPr>
              <a:t>PROPOSED ASSURANCE SCOPE</a:t>
            </a:r>
          </a:p>
        </p:txBody>
      </p:sp>
      <p:sp>
        <p:nvSpPr>
          <p:cNvPr id="2" name="">
            <a:extLst xmlns:a="http://schemas.openxmlformats.org/drawingml/2006/main">
              <a:ext uri="{FF2B5EF4-FFF2-40B4-BE49-F238E27FC236}">
                <a16:creationId xmlns:a16="http://schemas.microsoft.com/office/drawing/2014/main" id="{3436C0E4-073E-4958-A327-76CFC0E5E63D}"/>
              </a:ext>
            </a:extLst>
          </p:cNvPr>
          <p:cNvSpPr>
            <a:spLocks xmlns:a="http://schemas.openxmlformats.org/drawingml/2006/main" noGrp="1"/>
          </p:cNvSpPr>
          <p:nvPr/>
        </p:nvSpPr>
        <p:spPr>
          <a:xfrm xmlns:a="http://schemas.openxmlformats.org/drawingml/2006/main">
            <a:off x="685800" y="80962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Helvetica Neue"/>
                <a:ea typeface="Helvetica Neue"/>
                <a:cs typeface="Helvetica Neue"/>
              </a:defRPr>
            </a:pPr>
            <a:r>
              <a:rPr sz="3600" b="1">
                <a:solidFill>
                  <a:srgbClr val="FFFFFF"/>
                </a:solidFill>
                <a:latin typeface="Helvetica Neue"/>
                <a:ea typeface="Helvetica Neue"/>
                <a:cs typeface="Helvetica Neue"/>
              </a:rPr>
              <a:t>The boundary of the security claim</a:t>
            </a:r>
          </a:p>
        </p:txBody>
      </p:sp>
      <p:sp>
        <p:nvSpPr>
          <p:cNvPr id="3" name="">
            <a:extLst xmlns:a="http://schemas.openxmlformats.org/drawingml/2006/main">
              <a:ext uri="{FF2B5EF4-FFF2-40B4-BE49-F238E27FC236}">
                <a16:creationId xmlns:a16="http://schemas.microsoft.com/office/drawing/2014/main" id="{A3ED33C7-5CD3-45CD-BBA2-880D34F35E51}"/>
              </a:ext>
            </a:extLst>
          </p:cNvPr>
          <p:cNvSpPr>
            <a:spLocks xmlns:a="http://schemas.openxmlformats.org/drawingml/2006/main" noGrp="1"/>
          </p:cNvSpPr>
          <p:nvPr/>
        </p:nvSpPr>
        <p:spPr>
          <a:xfrm xmlns:a="http://schemas.openxmlformats.org/drawingml/2006/main">
            <a:off x="685800" y="2314575"/>
            <a:ext cx="102870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FFFFF"/>
                </a:solidFill>
                <a:latin typeface="Helvetica Neue"/>
                <a:ea typeface="Helvetica Neue"/>
                <a:cs typeface="Helvetica Neue"/>
              </a:defRPr>
            </a:pPr>
            <a:r>
              <a:rPr sz="3750" b="1">
                <a:solidFill>
                  <a:srgbClr val="FFFFFF"/>
                </a:solidFill>
                <a:latin typeface="Helvetica Neue"/>
                <a:ea typeface="Helvetica Neue"/>
                <a:cs typeface="Helvetica Neue"/>
              </a:rPr>
              <a:t>The agent can be wrong.</a:t>
            </a:r>
          </a:p>
          <a:p xmlns:a="http://schemas.openxmlformats.org/drawingml/2006/main">
            <a:pPr>
              <a:defRPr sz="3750" b="1">
                <a:solidFill>
                  <a:srgbClr val="FFFFFF"/>
                </a:solidFill>
                <a:latin typeface="Helvetica Neue"/>
                <a:ea typeface="Helvetica Neue"/>
                <a:cs typeface="Helvetica Neue"/>
              </a:defRPr>
            </a:pPr>
            <a:r>
              <a:rPr sz="3750" b="1">
                <a:solidFill>
                  <a:srgbClr val="FFFFFF"/>
                </a:solidFill>
                <a:latin typeface="Helvetica Neue"/>
                <a:ea typeface="Helvetica Neue"/>
                <a:cs typeface="Helvetica Neue"/>
              </a:rPr>
              <a:t>Its authority must stay bounded.</a:t>
            </a:r>
          </a:p>
        </p:txBody>
      </p:sp>
      <p:sp>
        <p:nvSpPr>
          <p:cNvPr id="4" name="">
            <a:extLst xmlns:a="http://schemas.openxmlformats.org/drawingml/2006/main">
              <a:ext uri="{FF2B5EF4-FFF2-40B4-BE49-F238E27FC236}">
                <a16:creationId xmlns:a16="http://schemas.microsoft.com/office/drawing/2014/main" id="{DAEA90A7-5A9F-429D-A56C-8AA49CD91430}"/>
              </a:ext>
            </a:extLst>
          </p:cNvPr>
          <p:cNvSpPr>
            <a:spLocks xmlns:a="http://schemas.openxmlformats.org/drawingml/2006/main" noGrp="1"/>
          </p:cNvSpPr>
          <p:nvPr/>
        </p:nvSpPr>
        <p:spPr>
          <a:xfrm xmlns:a="http://schemas.openxmlformats.org/drawingml/2006/main">
            <a:off x="685800" y="4343400"/>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BD8CB"/>
                </a:solidFill>
                <a:latin typeface="Helvetica Neue"/>
                <a:ea typeface="Helvetica Neue"/>
                <a:cs typeface="Helvetica Neue"/>
              </a:defRPr>
            </a:pPr>
            <a:r>
              <a:rPr sz="2325" b="0">
                <a:solidFill>
                  <a:srgbClr val="7BD8CB"/>
                </a:solidFill>
                <a:latin typeface="Helvetica Neue"/>
                <a:ea typeface="Helvetica Neue"/>
                <a:cs typeface="Helvetica Neue"/>
              </a:rPr>
              <a:t>Independent enforcement services and protected</a:t>
            </a:r>
          </a:p>
          <a:p xmlns:a="http://schemas.openxmlformats.org/drawingml/2006/main">
            <a:pPr>
              <a:defRPr sz="2325" b="0">
                <a:solidFill>
                  <a:srgbClr val="7BD8CB"/>
                </a:solidFill>
                <a:latin typeface="Helvetica Neue"/>
                <a:ea typeface="Helvetica Neue"/>
                <a:cs typeface="Helvetica Neue"/>
              </a:defRPr>
            </a:pPr>
            <a:r>
              <a:rPr sz="2325" b="0">
                <a:solidFill>
                  <a:srgbClr val="7BD8CB"/>
                </a:solidFill>
                <a:latin typeface="Helvetica Neue"/>
                <a:ea typeface="Helvetica Neue"/>
                <a:cs typeface="Helvetica Neue"/>
              </a:rPr>
              <a:t>administrative authority are explicit assumptions.</a:t>
            </a:r>
          </a:p>
        </p:txBody>
      </p:sp>
    </p:spTree>
    <p:extLst>
      <p:ext uri="{BB962C8B-B14F-4D97-AF65-F5344CB8AC3E}">
        <p14:creationId xmlns:p14="http://schemas.microsoft.com/office/powerpoint/2010/main" val="13838953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A320DDA5-30B0-4756-9BAE-ADF2502B7C63}"/>
              </a:ext>
            </a:extLst>
          </p:cNvPr>
          <p:cNvSpPr>
            <a:spLocks xmlns:a="http://schemas.openxmlformats.org/drawingml/2006/main" noGrp="1"/>
          </p:cNvSpPr>
          <p:nvPr/>
        </p:nvSpPr>
        <p:spPr>
          <a:xfrm xmlns:a="http://schemas.openxmlformats.org/drawingml/2006/main">
            <a:off x="685800" y="590550"/>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Five domains, with explicit responsibilities</a:t>
            </a:r>
          </a:p>
        </p:txBody>
      </p:sp>
      <p:graphicFrame>
        <p:nvGraphicFramePr>
          <p:cNvPr id="5" name=""/>
          <p:cNvGraphicFramePr/>
          <p:nvPr/>
        </p:nvGraphicFramePr>
        <p:xfrm>
          <a:off xmlns:a="http://schemas.openxmlformats.org/drawingml/2006/main" x="685800" y="1857375"/>
          <a:ext xmlns:a="http://schemas.openxmlformats.org/drawingml/2006/main" cx="10820400" cy="3829050"/>
        </p:xfrm>
        <a:graphic xmlns:a="http://schemas.openxmlformats.org/drawingml/2006/main">
          <a:graphicData uri="http://schemas.openxmlformats.org/drawingml/2006/table">
            <a:tbl>
              <a:tblPr/>
              <a:tblGrid>
                <a:gridCol w="3429000"/>
                <a:gridCol w="7391400"/>
              </a:tblGrid>
              <a:tr h="638175">
                <a:tc>
                  <a:txBody>
                    <a:bodyPr/>
                    <a:lstStyle/>
                    <a:p>
                      <a:r>
                        <a:rPr sz="1875" b="1">
                          <a:solidFill>
                            <a:srgbClr val="FFFFFF"/>
                          </a:solidFill>
                          <a:latin typeface="Helvetica Neue"/>
                          <a:ea typeface="Helvetica Neue"/>
                          <a:cs typeface="Helvetica Neue"/>
                        </a:rPr>
                        <a:t>Domain</a:t>
                      </a:r>
                    </a:p>
                  </a:txBody>
                  <a:tcPr marL="152400" marR="152400" marT="114300" marB="95250" anchor="ctr">
                    <a:solidFill>
                      <a:srgbClr val="102A39"/>
                    </a:solidFill>
                  </a:tcPr>
                </a:tc>
                <a:tc>
                  <a:txBody>
                    <a:bodyPr/>
                    <a:lstStyle/>
                    <a:p>
                      <a:r>
                        <a:rPr sz="1875" b="1">
                          <a:solidFill>
                            <a:srgbClr val="FFFFFF"/>
                          </a:solidFill>
                          <a:latin typeface="Helvetica Neue"/>
                          <a:ea typeface="Helvetica Neue"/>
                          <a:cs typeface="Helvetica Neue"/>
                        </a:rPr>
                        <a:t>Responsibility</a:t>
                      </a:r>
                    </a:p>
                  </a:txBody>
                  <a:tcPr marL="152400" marR="152400" marT="114300" marB="95250" anchor="ctr">
                    <a:solidFill>
                      <a:srgbClr val="102A39"/>
                    </a:solidFill>
                  </a:tcPr>
                </a:tc>
              </a:tr>
              <a:tr h="638175">
                <a:tc>
                  <a:txBody>
                    <a:bodyPr/>
                    <a:lstStyle/>
                    <a:p>
                      <a:r>
                        <a:rPr sz="2025" b="0">
                          <a:solidFill>
                            <a:srgbClr val="102A39"/>
                          </a:solidFill>
                          <a:latin typeface="Helvetica Neue"/>
                          <a:ea typeface="Helvetica Neue"/>
                          <a:cs typeface="Helvetica Neue"/>
                        </a:rPr>
                        <a:t>Controlled import</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Quarantine and release approved sources</a:t>
                      </a:r>
                    </a:p>
                  </a:txBody>
                  <a:tcPr marL="152400" marR="152400" marT="114300" marB="95250" anchor="ctr">
                    <a:solidFill>
                      <a:srgbClr val="F6F5F0"/>
                    </a:solidFill>
                  </a:tcPr>
                </a:tc>
              </a:tr>
              <a:tr h="638175">
                <a:tc>
                  <a:txBody>
                    <a:bodyPr/>
                    <a:lstStyle/>
                    <a:p>
                      <a:r>
                        <a:rPr sz="2025" b="0">
                          <a:solidFill>
                            <a:srgbClr val="102A39"/>
                          </a:solidFill>
                          <a:latin typeface="Helvetica Neue"/>
                          <a:ea typeface="Helvetica Neue"/>
                          <a:cs typeface="Helvetica Neue"/>
                        </a:rPr>
                        <a:t>Traceable transport</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Identify items and handle replay</a:t>
                      </a:r>
                    </a:p>
                  </a:txBody>
                  <a:tcPr marL="152400" marR="152400" marT="114300" marB="95250" anchor="ctr">
                    <a:solidFill>
                      <a:srgbClr val="F6F5F0"/>
                    </a:solidFill>
                  </a:tcPr>
                </a:tc>
              </a:tr>
              <a:tr h="638175">
                <a:tc>
                  <a:txBody>
                    <a:bodyPr/>
                    <a:lstStyle/>
                    <a:p>
                      <a:r>
                        <a:rPr sz="2025" b="0">
                          <a:solidFill>
                            <a:srgbClr val="102A39"/>
                          </a:solidFill>
                          <a:latin typeface="Helvetica Neue"/>
                          <a:ea typeface="Helvetica Neue"/>
                          <a:cs typeface="Helvetica Neue"/>
                        </a:rPr>
                        <a:t>Reconstructable evidence</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Retain decision inputs and recorded outputs</a:t>
                      </a:r>
                    </a:p>
                  </a:txBody>
                  <a:tcPr marL="152400" marR="152400" marT="114300" marB="95250" anchor="ctr">
                    <a:solidFill>
                      <a:srgbClr val="F6F5F0"/>
                    </a:solidFill>
                  </a:tcPr>
                </a:tc>
              </a:tr>
              <a:tr h="638175">
                <a:tc>
                  <a:txBody>
                    <a:bodyPr/>
                    <a:lstStyle/>
                    <a:p>
                      <a:r>
                        <a:rPr sz="2025" b="0">
                          <a:solidFill>
                            <a:srgbClr val="102A39"/>
                          </a:solidFill>
                          <a:latin typeface="Helvetica Neue"/>
                          <a:ea typeface="Helvetica Neue"/>
                          <a:cs typeface="Helvetica Neue"/>
                        </a:rPr>
                        <a:t>Bounded assistance</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Enforce case and tool permissions</a:t>
                      </a:r>
                    </a:p>
                  </a:txBody>
                  <a:tcPr marL="152400" marR="152400" marT="114300" marB="95250" anchor="ctr">
                    <a:solidFill>
                      <a:srgbClr val="F6F5F0"/>
                    </a:solidFill>
                  </a:tcPr>
                </a:tc>
              </a:tr>
              <a:tr h="638175">
                <a:tc>
                  <a:txBody>
                    <a:bodyPr/>
                    <a:lstStyle/>
                    <a:p>
                      <a:r>
                        <a:rPr sz="2025" b="0">
                          <a:solidFill>
                            <a:srgbClr val="102A39"/>
                          </a:solidFill>
                          <a:latin typeface="Helvetica Neue"/>
                          <a:ea typeface="Helvetica Neue"/>
                          <a:cs typeface="Helvetica Neue"/>
                        </a:rPr>
                        <a:t>Accountable action</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Authorize, execute, and reconcile changes</a:t>
                      </a:r>
                    </a:p>
                  </a:txBody>
                  <a:tcPr marL="152400" marR="152400" marT="114300" marB="95250" anchor="ctr">
                    <a:solidFill>
                      <a:srgbClr val="F6F5F0"/>
                    </a:solidFill>
                  </a:tcPr>
                </a:tc>
              </a:tr>
            </a:tbl>
          </a:graphicData>
        </a:graphic>
      </p:graphicFrame>
      <p:sp>
        <p:nvSpPr>
          <p:cNvPr id="3" name="">
            <a:extLst xmlns:a="http://schemas.openxmlformats.org/drawingml/2006/main">
              <a:ext uri="{FF2B5EF4-FFF2-40B4-BE49-F238E27FC236}">
                <a16:creationId xmlns:a16="http://schemas.microsoft.com/office/drawing/2014/main" id="{2DFEED92-DE61-4EB0-BCDF-F494E69CF045}"/>
              </a:ext>
            </a:extLst>
          </p:cNvPr>
          <p:cNvSpPr>
            <a:spLocks xmlns:a="http://schemas.openxmlformats.org/drawingml/2006/main" noGrp="1"/>
          </p:cNvSpPr>
          <p:nvPr/>
        </p:nvSpPr>
        <p:spPr>
          <a:xfrm xmlns:a="http://schemas.openxmlformats.org/drawingml/2006/main">
            <a:off x="685800" y="596265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007C78"/>
                </a:solidFill>
                <a:latin typeface="Helvetica Neue"/>
                <a:ea typeface="Helvetica Neue"/>
                <a:cs typeface="Helvetica Neue"/>
              </a:defRPr>
            </a:pPr>
            <a:r>
              <a:rPr sz="1725" b="1">
                <a:solidFill>
                  <a:srgbClr val="007C78"/>
                </a:solidFill>
                <a:latin typeface="Helvetica Neue"/>
                <a:ea typeface="Helvetica Neue"/>
                <a:cs typeface="Helvetica Neue"/>
              </a:rPr>
              <a:t>Separate authority protects identity, policy, keys, and evidence custody.</a:t>
            </a:r>
          </a:p>
        </p:txBody>
      </p:sp>
    </p:spTree>
    <p:extLst>
      <p:ext uri="{BB962C8B-B14F-4D97-AF65-F5344CB8AC3E}">
        <p14:creationId xmlns:p14="http://schemas.microsoft.com/office/powerpoint/2010/main" val="1645558295"/>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6CA3B69-DA9B-4A18-A850-4D70A8BC33B1}"/>
              </a:ext>
            </a:extLst>
          </p:cNvPr>
          <p:cNvSpPr>
            <a:spLocks xmlns:a="http://schemas.openxmlformats.org/drawingml/2006/main" noGrp="1"/>
          </p:cNvSpPr>
          <p:nvPr/>
        </p:nvSpPr>
        <p:spPr>
          <a:xfrm xmlns:a="http://schemas.openxmlformats.org/drawingml/2006/main">
            <a:off x="685800" y="590550"/>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Approval applies to one exact action</a:t>
            </a:r>
          </a:p>
        </p:txBody>
      </p:sp>
      <p:sp>
        <p:nvSpPr>
          <p:cNvPr id="2" name="">
            <a:extLst xmlns:a="http://schemas.openxmlformats.org/drawingml/2006/main">
              <a:ext uri="{FF2B5EF4-FFF2-40B4-BE49-F238E27FC236}">
                <a16:creationId xmlns:a16="http://schemas.microsoft.com/office/drawing/2014/main" id="{0A8D40A7-379F-46A2-96C9-852F80A56452}"/>
              </a:ext>
            </a:extLst>
          </p:cNvPr>
          <p:cNvSpPr>
            <a:spLocks xmlns:a="http://schemas.openxmlformats.org/drawingml/2006/main" noGrp="1"/>
          </p:cNvSpPr>
          <p:nvPr/>
        </p:nvSpPr>
        <p:spPr>
          <a:xfrm xmlns:a="http://schemas.openxmlformats.org/drawingml/2006/main">
            <a:off x="685800" y="21431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7C78"/>
                </a:solidFill>
                <a:latin typeface="Helvetica Neue"/>
                <a:ea typeface="Helvetica Neue"/>
                <a:cs typeface="Helvetica Neue"/>
              </a:defRPr>
            </a:pPr>
            <a:r>
              <a:rPr sz="2175" b="1">
                <a:solidFill>
                  <a:srgbClr val="007C78"/>
                </a:solidFill>
                <a:latin typeface="Helvetica Neue"/>
                <a:ea typeface="Helvetica Neue"/>
                <a:cs typeface="Helvetica Neue"/>
              </a:rPr>
              <a:t>The reviewer sees</a:t>
            </a:r>
          </a:p>
        </p:txBody>
      </p:sp>
      <p:sp>
        <p:nvSpPr>
          <p:cNvPr id="3" name="">
            <a:extLst xmlns:a="http://schemas.openxmlformats.org/drawingml/2006/main">
              <a:ext uri="{FF2B5EF4-FFF2-40B4-BE49-F238E27FC236}">
                <a16:creationId xmlns:a16="http://schemas.microsoft.com/office/drawing/2014/main" id="{003CC589-9BC1-45AC-83C6-E56D2C80B4CF}"/>
              </a:ext>
            </a:extLst>
          </p:cNvPr>
          <p:cNvSpPr>
            <a:spLocks xmlns:a="http://schemas.openxmlformats.org/drawingml/2006/main" noGrp="1"/>
          </p:cNvSpPr>
          <p:nvPr/>
        </p:nvSpPr>
        <p:spPr>
          <a:xfrm xmlns:a="http://schemas.openxmlformats.org/drawingml/2006/main">
            <a:off x="685800" y="2886075"/>
            <a:ext cx="48577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102A39"/>
                </a:solidFill>
                <a:latin typeface="Helvetica Neue"/>
                <a:ea typeface="Helvetica Neue"/>
                <a:cs typeface="Helvetica Neue"/>
              </a:defRPr>
            </a:pPr>
            <a:r>
              <a:rPr sz="2925" b="0">
                <a:solidFill>
                  <a:srgbClr val="102A39"/>
                </a:solidFill>
                <a:latin typeface="Helvetica Neue"/>
                <a:ea typeface="Helvetica Neue"/>
                <a:cs typeface="Helvetica Neue"/>
              </a:rPr>
              <a:t>The case</a:t>
            </a:r>
          </a:p>
          <a:p xmlns:a="http://schemas.openxmlformats.org/drawingml/2006/main">
            <a:pPr>
              <a:defRPr sz="2925" b="0">
                <a:solidFill>
                  <a:srgbClr val="102A39"/>
                </a:solidFill>
                <a:latin typeface="Helvetica Neue"/>
                <a:ea typeface="Helvetica Neue"/>
                <a:cs typeface="Helvetica Neue"/>
              </a:defRPr>
            </a:pPr>
            <a:r>
              <a:rPr sz="2925" b="0">
                <a:solidFill>
                  <a:srgbClr val="102A39"/>
                </a:solidFill>
                <a:latin typeface="Helvetica Neue"/>
                <a:ea typeface="Helvetica Neue"/>
                <a:cs typeface="Helvetica Neue"/>
              </a:rPr>
              <a:t>The proposed change</a:t>
            </a:r>
          </a:p>
          <a:p xmlns:a="http://schemas.openxmlformats.org/drawingml/2006/main">
            <a:pPr>
              <a:defRPr sz="2925" b="0">
                <a:solidFill>
                  <a:srgbClr val="102A39"/>
                </a:solidFill>
                <a:latin typeface="Helvetica Neue"/>
                <a:ea typeface="Helvetica Neue"/>
                <a:cs typeface="Helvetica Neue"/>
              </a:defRPr>
            </a:pPr>
            <a:r>
              <a:rPr sz="2925" b="0">
                <a:solidFill>
                  <a:srgbClr val="102A39"/>
                </a:solidFill>
                <a:latin typeface="Helvetica Neue"/>
                <a:ea typeface="Helvetica Neue"/>
                <a:cs typeface="Helvetica Neue"/>
              </a:rPr>
              <a:t>The supporting evidence</a:t>
            </a:r>
          </a:p>
        </p:txBody>
      </p:sp>
      <p:sp>
        <p:nvSpPr>
          <p:cNvPr id="4" name="">
            <a:extLst xmlns:a="http://schemas.openxmlformats.org/drawingml/2006/main">
              <a:ext uri="{FF2B5EF4-FFF2-40B4-BE49-F238E27FC236}">
                <a16:creationId xmlns:a16="http://schemas.microsoft.com/office/drawing/2014/main" id="{B9932A03-4FA7-42F6-BB0D-48D495C3FB84}"/>
              </a:ext>
            </a:extLst>
          </p:cNvPr>
          <p:cNvSpPr>
            <a:spLocks xmlns:a="http://schemas.openxmlformats.org/drawingml/2006/main" noGrp="1"/>
          </p:cNvSpPr>
          <p:nvPr/>
        </p:nvSpPr>
        <p:spPr>
          <a:xfrm xmlns:a="http://schemas.openxmlformats.org/drawingml/2006/main">
            <a:off x="6524625" y="2143125"/>
            <a:ext cx="4905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7C78"/>
                </a:solidFill>
                <a:latin typeface="Helvetica Neue"/>
                <a:ea typeface="Helvetica Neue"/>
                <a:cs typeface="Helvetica Neue"/>
              </a:defRPr>
            </a:pPr>
            <a:r>
              <a:rPr sz="2175" b="1">
                <a:solidFill>
                  <a:srgbClr val="007C78"/>
                </a:solidFill>
                <a:latin typeface="Helvetica Neue"/>
                <a:ea typeface="Helvetica Neue"/>
                <a:cs typeface="Helvetica Neue"/>
              </a:rPr>
              <a:t>The executor verifies</a:t>
            </a:r>
          </a:p>
        </p:txBody>
      </p:sp>
      <p:sp>
        <p:nvSpPr>
          <p:cNvPr id="5" name="">
            <a:extLst xmlns:a="http://schemas.openxmlformats.org/drawingml/2006/main">
              <a:ext uri="{FF2B5EF4-FFF2-40B4-BE49-F238E27FC236}">
                <a16:creationId xmlns:a16="http://schemas.microsoft.com/office/drawing/2014/main" id="{E3EE84FB-1F45-4BB5-9FBB-0CFD35C01557}"/>
              </a:ext>
            </a:extLst>
          </p:cNvPr>
          <p:cNvSpPr>
            <a:spLocks xmlns:a="http://schemas.openxmlformats.org/drawingml/2006/main" noGrp="1"/>
          </p:cNvSpPr>
          <p:nvPr/>
        </p:nvSpPr>
        <p:spPr>
          <a:xfrm xmlns:a="http://schemas.openxmlformats.org/drawingml/2006/main">
            <a:off x="6524625" y="2886075"/>
            <a:ext cx="49530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Matching action and target</a:t>
            </a:r>
          </a:p>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Current case and policy</a:t>
            </a:r>
          </a:p>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Valid, unused approval</a:t>
            </a:r>
          </a:p>
        </p:txBody>
      </p:sp>
      <p:sp>
        <p:nvSpPr>
          <p:cNvPr id="6" name="">
            <a:extLst xmlns:a="http://schemas.openxmlformats.org/drawingml/2006/main">
              <a:ext uri="{FF2B5EF4-FFF2-40B4-BE49-F238E27FC236}">
                <a16:creationId xmlns:a16="http://schemas.microsoft.com/office/drawing/2014/main" id="{4627F100-C73A-4BD9-A596-792824609D86}"/>
              </a:ext>
            </a:extLst>
          </p:cNvPr>
          <p:cNvSpPr>
            <a:spLocks xmlns:a="http://schemas.openxmlformats.org/drawingml/2006/main" noGrp="1"/>
          </p:cNvSpPr>
          <p:nvPr/>
        </p:nvSpPr>
        <p:spPr>
          <a:xfrm xmlns:a="http://schemas.openxmlformats.org/drawingml/2006/main">
            <a:off x="685800" y="5762625"/>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02A39"/>
                </a:solidFill>
                <a:latin typeface="Helvetica Neue"/>
                <a:ea typeface="Helvetica Neue"/>
                <a:cs typeface="Helvetica Neue"/>
              </a:defRPr>
            </a:pPr>
            <a:r>
              <a:rPr sz="2400" b="1">
                <a:solidFill>
                  <a:srgbClr val="102A39"/>
                </a:solidFill>
                <a:latin typeface="Helvetica Neue"/>
                <a:ea typeface="Helvetica Neue"/>
                <a:cs typeface="Helvetica Neue"/>
              </a:rPr>
              <a:t>A changed proposal requires renewed approval.</a:t>
            </a:r>
          </a:p>
        </p:txBody>
      </p:sp>
    </p:spTree>
    <p:extLst>
      <p:ext uri="{BB962C8B-B14F-4D97-AF65-F5344CB8AC3E}">
        <p14:creationId xmlns:p14="http://schemas.microsoft.com/office/powerpoint/2010/main" val="1192222190"/>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1D71C65-90FE-4DD0-9D93-56C0DBD5A725}"/>
              </a:ext>
            </a:extLst>
          </p:cNvPr>
          <p:cNvSpPr>
            <a:spLocks xmlns:a="http://schemas.openxmlformats.org/drawingml/2006/main" noGrp="1"/>
          </p:cNvSpPr>
          <p:nvPr/>
        </p:nvSpPr>
        <p:spPr>
          <a:xfrm xmlns:a="http://schemas.openxmlformats.org/drawingml/2006/main">
            <a:off x="685800" y="333375"/>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007C78"/>
                </a:solidFill>
                <a:latin typeface="Helvetica Neue"/>
                <a:ea typeface="Helvetica Neue"/>
                <a:cs typeface="Helvetica Neue"/>
              </a:defRPr>
            </a:pPr>
            <a:r>
              <a:rPr sz="1425" b="1">
                <a:solidFill>
                  <a:srgbClr val="007C78"/>
                </a:solidFill>
                <a:latin typeface="Helvetica Neue"/>
                <a:ea typeface="Helvetica Neue"/>
                <a:cs typeface="Helvetica Neue"/>
              </a:rPr>
              <a:t>PLANNED DEMONSTRATION</a:t>
            </a:r>
          </a:p>
        </p:txBody>
      </p:sp>
      <p:sp>
        <p:nvSpPr>
          <p:cNvPr id="2" name="">
            <a:extLst xmlns:a="http://schemas.openxmlformats.org/drawingml/2006/main">
              <a:ext uri="{FF2B5EF4-FFF2-40B4-BE49-F238E27FC236}">
                <a16:creationId xmlns:a16="http://schemas.microsoft.com/office/drawing/2014/main" id="{E1FDA0E6-901D-4B57-91BB-FA5F8E75D5DF}"/>
              </a:ext>
            </a:extLst>
          </p:cNvPr>
          <p:cNvSpPr>
            <a:spLocks xmlns:a="http://schemas.openxmlformats.org/drawingml/2006/main" noGrp="1"/>
          </p:cNvSpPr>
          <p:nvPr/>
        </p:nvSpPr>
        <p:spPr>
          <a:xfrm xmlns:a="http://schemas.openxmlformats.org/drawingml/2006/main">
            <a:off x="685800" y="80962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A test the audience can inspect</a:t>
            </a:r>
          </a:p>
        </p:txBody>
      </p:sp>
      <p:graphicFrame>
        <p:nvGraphicFramePr>
          <p:cNvPr id="7" name=""/>
          <p:cNvGraphicFramePr/>
          <p:nvPr/>
        </p:nvGraphicFramePr>
        <p:xfrm>
          <a:off xmlns:a="http://schemas.openxmlformats.org/drawingml/2006/main" x="685800" y="2257425"/>
          <a:ext xmlns:a="http://schemas.openxmlformats.org/drawingml/2006/main" cx="10820400" cy="2771775"/>
        </p:xfrm>
        <a:graphic xmlns:a="http://schemas.openxmlformats.org/drawingml/2006/main">
          <a:graphicData uri="http://schemas.openxmlformats.org/drawingml/2006/table">
            <a:tbl>
              <a:tblPr/>
              <a:tblGrid>
                <a:gridCol w="5886450"/>
                <a:gridCol w="4933950"/>
              </a:tblGrid>
              <a:tr h="692944">
                <a:tc>
                  <a:txBody>
                    <a:bodyPr/>
                    <a:lstStyle/>
                    <a:p>
                      <a:r>
                        <a:rPr sz="1875" b="1">
                          <a:solidFill>
                            <a:srgbClr val="FFFFFF"/>
                          </a:solidFill>
                          <a:latin typeface="Helvetica Neue"/>
                          <a:ea typeface="Helvetica Neue"/>
                          <a:cs typeface="Helvetica Neue"/>
                        </a:rPr>
                        <a:t>Test input</a:t>
                      </a:r>
                    </a:p>
                  </a:txBody>
                  <a:tcPr marL="152400" marR="152400" marT="114300" marB="95250" anchor="ctr">
                    <a:solidFill>
                      <a:srgbClr val="102A39"/>
                    </a:solidFill>
                  </a:tcPr>
                </a:tc>
                <a:tc>
                  <a:txBody>
                    <a:bodyPr/>
                    <a:lstStyle/>
                    <a:p>
                      <a:r>
                        <a:rPr sz="1875" b="1">
                          <a:solidFill>
                            <a:srgbClr val="FFFFFF"/>
                          </a:solidFill>
                          <a:latin typeface="Helvetica Neue"/>
                          <a:ea typeface="Helvetica Neue"/>
                          <a:cs typeface="Helvetica Neue"/>
                        </a:rPr>
                        <a:t>Expected register outcome</a:t>
                      </a:r>
                    </a:p>
                  </a:txBody>
                  <a:tcPr marL="152400" marR="152400" marT="114300" marB="95250" anchor="ctr">
                    <a:solidFill>
                      <a:srgbClr val="102A39"/>
                    </a:solidFill>
                  </a:tcPr>
                </a:tc>
              </a:tr>
              <a:tr h="692944">
                <a:tc>
                  <a:txBody>
                    <a:bodyPr/>
                    <a:lstStyle/>
                    <a:p>
                      <a:r>
                        <a:rPr sz="2100" b="0">
                          <a:solidFill>
                            <a:srgbClr val="102A39"/>
                          </a:solidFill>
                          <a:latin typeface="Helvetica Neue"/>
                          <a:ea typeface="Helvetica Neue"/>
                          <a:cs typeface="Helvetica Neue"/>
                        </a:rPr>
                        <a:t>Change the target after approval</a:t>
                      </a:r>
                    </a:p>
                  </a:txBody>
                  <a:tcPr marL="152400" marR="152400" marT="114300" marB="95250" anchor="ctr">
                    <a:solidFill>
                      <a:srgbClr val="F6F5F0"/>
                    </a:solidFill>
                  </a:tcPr>
                </a:tc>
                <a:tc>
                  <a:txBody>
                    <a:bodyPr/>
                    <a:lstStyle/>
                    <a:p>
                      <a:r>
                        <a:rPr sz="2100" b="0">
                          <a:solidFill>
                            <a:srgbClr val="102A39"/>
                          </a:solidFill>
                          <a:latin typeface="Helvetica Neue"/>
                          <a:ea typeface="Helvetica Neue"/>
                          <a:cs typeface="Helvetica Neue"/>
                        </a:rPr>
                        <a:t>No mutation</a:t>
                      </a:r>
                    </a:p>
                  </a:txBody>
                  <a:tcPr marL="152400" marR="152400" marT="114300" marB="95250" anchor="ctr">
                    <a:solidFill>
                      <a:srgbClr val="F6F5F0"/>
                    </a:solidFill>
                  </a:tcPr>
                </a:tc>
              </a:tr>
              <a:tr h="692944">
                <a:tc>
                  <a:txBody>
                    <a:bodyPr/>
                    <a:lstStyle/>
                    <a:p>
                      <a:r>
                        <a:rPr sz="2100" b="0">
                          <a:solidFill>
                            <a:srgbClr val="102A39"/>
                          </a:solidFill>
                          <a:latin typeface="Helvetica Neue"/>
                          <a:ea typeface="Helvetica Neue"/>
                          <a:cs typeface="Helvetica Neue"/>
                        </a:rPr>
                        <a:t>Execute the unchanged approved action</a:t>
                      </a:r>
                    </a:p>
                  </a:txBody>
                  <a:tcPr marL="152400" marR="152400" marT="114300" marB="95250" anchor="ctr">
                    <a:solidFill>
                      <a:srgbClr val="F6F5F0"/>
                    </a:solidFill>
                  </a:tcPr>
                </a:tc>
                <a:tc>
                  <a:txBody>
                    <a:bodyPr/>
                    <a:lstStyle/>
                    <a:p>
                      <a:r>
                        <a:rPr sz="2100" b="0">
                          <a:solidFill>
                            <a:srgbClr val="102A39"/>
                          </a:solidFill>
                          <a:latin typeface="Helvetica Neue"/>
                          <a:ea typeface="Helvetica Neue"/>
                          <a:cs typeface="Helvetica Neue"/>
                        </a:rPr>
                        <a:t>One authorized transition</a:t>
                      </a:r>
                    </a:p>
                  </a:txBody>
                  <a:tcPr marL="152400" marR="152400" marT="114300" marB="95250" anchor="ctr">
                    <a:solidFill>
                      <a:srgbClr val="F6F5F0"/>
                    </a:solidFill>
                  </a:tcPr>
                </a:tc>
              </a:tr>
              <a:tr h="692944">
                <a:tc>
                  <a:txBody>
                    <a:bodyPr/>
                    <a:lstStyle/>
                    <a:p>
                      <a:r>
                        <a:rPr sz="2100" b="0">
                          <a:solidFill>
                            <a:srgbClr val="102A39"/>
                          </a:solidFill>
                          <a:latin typeface="Helvetica Neue"/>
                          <a:ea typeface="Helvetica Neue"/>
                          <a:cs typeface="Helvetica Neue"/>
                        </a:rPr>
                        <a:t>Retry the same execution</a:t>
                      </a:r>
                    </a:p>
                  </a:txBody>
                  <a:tcPr marL="152400" marR="152400" marT="114300" marB="95250" anchor="ctr">
                    <a:solidFill>
                      <a:srgbClr val="F6F5F0"/>
                    </a:solidFill>
                  </a:tcPr>
                </a:tc>
                <a:tc>
                  <a:txBody>
                    <a:bodyPr/>
                    <a:lstStyle/>
                    <a:p>
                      <a:r>
                        <a:rPr sz="2100" b="0">
                          <a:solidFill>
                            <a:srgbClr val="102A39"/>
                          </a:solidFill>
                          <a:latin typeface="Helvetica Neue"/>
                          <a:ea typeface="Helvetica Neue"/>
                          <a:cs typeface="Helvetica Neue"/>
                        </a:rPr>
                        <a:t>No duplicate transition</a:t>
                      </a:r>
                    </a:p>
                  </a:txBody>
                  <a:tcPr marL="152400" marR="152400" marT="114300" marB="95250" anchor="ctr">
                    <a:solidFill>
                      <a:srgbClr val="F6F5F0"/>
                    </a:solidFill>
                  </a:tcPr>
                </a:tc>
              </a:tr>
            </a:tbl>
          </a:graphicData>
        </a:graphic>
      </p:graphicFrame>
      <p:sp>
        <p:nvSpPr>
          <p:cNvPr id="4" name="">
            <a:extLst xmlns:a="http://schemas.openxmlformats.org/drawingml/2006/main">
              <a:ext uri="{FF2B5EF4-FFF2-40B4-BE49-F238E27FC236}">
                <a16:creationId xmlns:a16="http://schemas.microsoft.com/office/drawing/2014/main" id="{5EBCFC42-F620-4A08-8ECA-45B82A0E75B6}"/>
              </a:ext>
            </a:extLst>
          </p:cNvPr>
          <p:cNvSpPr>
            <a:spLocks xmlns:a="http://schemas.openxmlformats.org/drawingml/2006/main" noGrp="1"/>
          </p:cNvSpPr>
          <p:nvPr/>
        </p:nvSpPr>
        <p:spPr>
          <a:xfrm xmlns:a="http://schemas.openxmlformats.org/drawingml/2006/main">
            <a:off x="685800" y="555307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7C78"/>
                </a:solidFill>
                <a:latin typeface="Helvetica Neue"/>
                <a:ea typeface="Helvetica Neue"/>
                <a:cs typeface="Helvetica Neue"/>
              </a:defRPr>
            </a:pPr>
            <a:r>
              <a:rPr sz="2250" b="1">
                <a:solidFill>
                  <a:srgbClr val="007C78"/>
                </a:solidFill>
                <a:latin typeface="Helvetica Neue"/>
                <a:ea typeface="Helvetica Neue"/>
                <a:cs typeface="Helvetica Neue"/>
              </a:rPr>
              <a:t>Each outcome must link to a verifiable evidence record.</a:t>
            </a:r>
          </a:p>
        </p:txBody>
      </p:sp>
    </p:spTree>
    <p:extLst>
      <p:ext uri="{BB962C8B-B14F-4D97-AF65-F5344CB8AC3E}">
        <p14:creationId xmlns:p14="http://schemas.microsoft.com/office/powerpoint/2010/main" val="184736936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1627817-DDAE-4F07-93FC-BACBC01DA7A3}"/>
              </a:ext>
            </a:extLst>
          </p:cNvPr>
          <p:cNvSpPr>
            <a:spLocks xmlns:a="http://schemas.openxmlformats.org/drawingml/2006/main" noGrp="1"/>
          </p:cNvSpPr>
          <p:nvPr/>
        </p:nvSpPr>
        <p:spPr>
          <a:xfrm xmlns:a="http://schemas.openxmlformats.org/drawingml/2006/main">
            <a:off x="685800" y="590550"/>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When automation must pause</a:t>
            </a:r>
          </a:p>
        </p:txBody>
      </p:sp>
      <p:sp>
        <p:nvSpPr>
          <p:cNvPr id="2" name="">
            <a:extLst xmlns:a="http://schemas.openxmlformats.org/drawingml/2006/main">
              <a:ext uri="{FF2B5EF4-FFF2-40B4-BE49-F238E27FC236}">
                <a16:creationId xmlns:a16="http://schemas.microsoft.com/office/drawing/2014/main" id="{505917E2-6DB8-476E-B833-488496DAE779}"/>
              </a:ext>
            </a:extLst>
          </p:cNvPr>
          <p:cNvSpPr>
            <a:spLocks xmlns:a="http://schemas.openxmlformats.org/drawingml/2006/main" noGrp="1"/>
          </p:cNvSpPr>
          <p:nvPr/>
        </p:nvSpPr>
        <p:spPr>
          <a:xfrm xmlns:a="http://schemas.openxmlformats.org/drawingml/2006/main">
            <a:off x="685800" y="20955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02A39"/>
                </a:solidFill>
                <a:latin typeface="Helvetica Neue"/>
                <a:ea typeface="Helvetica Neue"/>
                <a:cs typeface="Helvetica Neue"/>
              </a:defRPr>
            </a:pPr>
            <a:r>
              <a:rPr sz="3225" b="1">
                <a:solidFill>
                  <a:srgbClr val="102A39"/>
                </a:solidFill>
                <a:latin typeface="Helvetica Neue"/>
                <a:ea typeface="Helvetica Neue"/>
                <a:cs typeface="Helvetica Neue"/>
              </a:rPr>
              <a:t>Authorization or evidence unavailable</a:t>
            </a:r>
          </a:p>
        </p:txBody>
      </p:sp>
      <p:sp>
        <p:nvSpPr>
          <p:cNvPr id="3" name="">
            <a:extLst xmlns:a="http://schemas.openxmlformats.org/drawingml/2006/main">
              <a:ext uri="{FF2B5EF4-FFF2-40B4-BE49-F238E27FC236}">
                <a16:creationId xmlns:a16="http://schemas.microsoft.com/office/drawing/2014/main" id="{8C319FEC-1073-47D9-B6E8-8E217F234223}"/>
              </a:ext>
            </a:extLst>
          </p:cNvPr>
          <p:cNvSpPr>
            <a:spLocks xmlns:a="http://schemas.openxmlformats.org/drawingml/2006/main" noGrp="1"/>
          </p:cNvSpPr>
          <p:nvPr/>
        </p:nvSpPr>
        <p:spPr>
          <a:xfrm xmlns:a="http://schemas.openxmlformats.org/drawingml/2006/main">
            <a:off x="685800" y="3105150"/>
            <a:ext cx="10572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8A4B14"/>
                </a:solidFill>
                <a:latin typeface="Helvetica Neue"/>
                <a:ea typeface="Helvetica Neue"/>
                <a:cs typeface="Helvetica Neue"/>
              </a:defRPr>
            </a:pPr>
            <a:r>
              <a:rPr sz="2700" b="0">
                <a:solidFill>
                  <a:srgbClr val="8A4B14"/>
                </a:solidFill>
                <a:latin typeface="Helvetica Neue"/>
                <a:ea typeface="Helvetica Neue"/>
                <a:cs typeface="Helvetica Neue"/>
              </a:rPr>
              <a:t>Pause the consequential automated action.</a:t>
            </a:r>
          </a:p>
        </p:txBody>
      </p:sp>
      <p:sp>
        <p:nvSpPr>
          <p:cNvPr id="4" name="">
            <a:extLst xmlns:a="http://schemas.openxmlformats.org/drawingml/2006/main">
              <a:ext uri="{FF2B5EF4-FFF2-40B4-BE49-F238E27FC236}">
                <a16:creationId xmlns:a16="http://schemas.microsoft.com/office/drawing/2014/main" id="{564FAF53-6018-45E2-A5D8-4BAE232BDFE4}"/>
              </a:ext>
            </a:extLst>
          </p:cNvPr>
          <p:cNvSpPr>
            <a:spLocks xmlns:a="http://schemas.openxmlformats.org/drawingml/2006/main" noGrp="1"/>
          </p:cNvSpPr>
          <p:nvPr/>
        </p:nvSpPr>
        <p:spPr>
          <a:xfrm xmlns:a="http://schemas.openxmlformats.org/drawingml/2006/main">
            <a:off x="685800" y="403860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Keep an authorized manual route open to students.</a:t>
            </a:r>
          </a:p>
        </p:txBody>
      </p:sp>
      <p:sp>
        <p:nvSpPr>
          <p:cNvPr id="5" name="">
            <a:extLst xmlns:a="http://schemas.openxmlformats.org/drawingml/2006/main">
              <a:ext uri="{FF2B5EF4-FFF2-40B4-BE49-F238E27FC236}">
                <a16:creationId xmlns:a16="http://schemas.microsoft.com/office/drawing/2014/main" id="{55C4FB8E-DB75-4B93-AA61-87C0E4FB6B27}"/>
              </a:ext>
            </a:extLst>
          </p:cNvPr>
          <p:cNvSpPr>
            <a:spLocks xmlns:a="http://schemas.openxmlformats.org/drawingml/2006/main" noGrp="1"/>
          </p:cNvSpPr>
          <p:nvPr/>
        </p:nvSpPr>
        <p:spPr>
          <a:xfrm xmlns:a="http://schemas.openxmlformats.org/drawingml/2006/main">
            <a:off x="685800" y="53435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7C78"/>
                </a:solidFill>
                <a:latin typeface="Helvetica Neue"/>
                <a:ea typeface="Helvetica Neue"/>
                <a:cs typeface="Helvetica Neue"/>
              </a:defRPr>
            </a:pPr>
            <a:r>
              <a:rPr sz="2325" b="1">
                <a:solidFill>
                  <a:srgbClr val="007C78"/>
                </a:solidFill>
                <a:latin typeface="Helvetica Neue"/>
                <a:ea typeface="Helvetica Neue"/>
                <a:cs typeface="Helvetica Neue"/>
              </a:rPr>
              <a:t>Reconcile uncertain outcomes before retrying.</a:t>
            </a:r>
          </a:p>
        </p:txBody>
      </p:sp>
    </p:spTree>
    <p:extLst>
      <p:ext uri="{BB962C8B-B14F-4D97-AF65-F5344CB8AC3E}">
        <p14:creationId xmlns:p14="http://schemas.microsoft.com/office/powerpoint/2010/main" val="1422253051"/>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73DD4E6-DC58-4FFE-9917-75E1C5E51D6C}"/>
              </a:ext>
            </a:extLst>
          </p:cNvPr>
          <p:cNvSpPr>
            <a:spLocks xmlns:a="http://schemas.openxmlformats.org/drawingml/2006/main" noGrp="1"/>
          </p:cNvSpPr>
          <p:nvPr/>
        </p:nvSpPr>
        <p:spPr>
          <a:xfrm xmlns:a="http://schemas.openxmlformats.org/drawingml/2006/main">
            <a:off x="685800" y="590550"/>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Evidence that supports a challenge</a:t>
            </a:r>
          </a:p>
        </p:txBody>
      </p:sp>
      <p:sp>
        <p:nvSpPr>
          <p:cNvPr id="2" name="">
            <a:extLst xmlns:a="http://schemas.openxmlformats.org/drawingml/2006/main">
              <a:ext uri="{FF2B5EF4-FFF2-40B4-BE49-F238E27FC236}">
                <a16:creationId xmlns:a16="http://schemas.microsoft.com/office/drawing/2014/main" id="{32CBE5C8-4F8C-41A6-8848-EDC47D09FF4E}"/>
              </a:ext>
            </a:extLst>
          </p:cNvPr>
          <p:cNvSpPr>
            <a:spLocks xmlns:a="http://schemas.openxmlformats.org/drawingml/2006/main" noGrp="1"/>
          </p:cNvSpPr>
          <p:nvPr/>
        </p:nvSpPr>
        <p:spPr>
          <a:xfrm xmlns:a="http://schemas.openxmlformats.org/drawingml/2006/main">
            <a:off x="685800" y="21336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102A39"/>
                </a:solidFill>
                <a:latin typeface="Helvetica Neue"/>
                <a:ea typeface="Helvetica Neue"/>
                <a:cs typeface="Helvetica Neue"/>
              </a:defRPr>
            </a:pPr>
            <a:r>
              <a:rPr sz="2925" b="0">
                <a:solidFill>
                  <a:srgbClr val="102A39"/>
                </a:solidFill>
                <a:latin typeface="Helvetica Neue"/>
                <a:ea typeface="Helvetica Neue"/>
                <a:cs typeface="Helvetica Neue"/>
              </a:rPr>
              <a:t>What did the agent see?</a:t>
            </a:r>
          </a:p>
        </p:txBody>
      </p:sp>
      <p:sp>
        <p:nvSpPr>
          <p:cNvPr id="3" name="">
            <a:extLst xmlns:a="http://schemas.openxmlformats.org/drawingml/2006/main">
              <a:ext uri="{FF2B5EF4-FFF2-40B4-BE49-F238E27FC236}">
                <a16:creationId xmlns:a16="http://schemas.microsoft.com/office/drawing/2014/main" id="{22DA2BBD-6068-4A33-BCAE-C0DF6F7D4664}"/>
              </a:ext>
            </a:extLst>
          </p:cNvPr>
          <p:cNvSpPr>
            <a:spLocks xmlns:a="http://schemas.openxmlformats.org/drawingml/2006/main" noGrp="1"/>
          </p:cNvSpPr>
          <p:nvPr/>
        </p:nvSpPr>
        <p:spPr>
          <a:xfrm xmlns:a="http://schemas.openxmlformats.org/drawingml/2006/main">
            <a:off x="685800" y="30575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102A39"/>
                </a:solidFill>
                <a:latin typeface="Helvetica Neue"/>
                <a:ea typeface="Helvetica Neue"/>
                <a:cs typeface="Helvetica Neue"/>
              </a:defRPr>
            </a:pPr>
            <a:r>
              <a:rPr sz="2925" b="0">
                <a:solidFill>
                  <a:srgbClr val="102A39"/>
                </a:solidFill>
                <a:latin typeface="Helvetica Neue"/>
                <a:ea typeface="Helvetica Neue"/>
                <a:cs typeface="Helvetica Neue"/>
              </a:rPr>
              <a:t>What did it propose, and who authorized it?</a:t>
            </a:r>
          </a:p>
        </p:txBody>
      </p:sp>
      <p:sp>
        <p:nvSpPr>
          <p:cNvPr id="4" name="">
            <a:extLst xmlns:a="http://schemas.openxmlformats.org/drawingml/2006/main">
              <a:ext uri="{FF2B5EF4-FFF2-40B4-BE49-F238E27FC236}">
                <a16:creationId xmlns:a16="http://schemas.microsoft.com/office/drawing/2014/main" id="{A173275E-BA0A-4F4D-8000-0225CC7E9D20}"/>
              </a:ext>
            </a:extLst>
          </p:cNvPr>
          <p:cNvSpPr>
            <a:spLocks xmlns:a="http://schemas.openxmlformats.org/drawingml/2006/main" noGrp="1"/>
          </p:cNvSpPr>
          <p:nvPr/>
        </p:nvSpPr>
        <p:spPr>
          <a:xfrm xmlns:a="http://schemas.openxmlformats.org/drawingml/2006/main">
            <a:off x="685800" y="3981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102A39"/>
                </a:solidFill>
                <a:latin typeface="Helvetica Neue"/>
                <a:ea typeface="Helvetica Neue"/>
                <a:cs typeface="Helvetica Neue"/>
              </a:defRPr>
            </a:pPr>
            <a:r>
              <a:rPr sz="2925" b="0">
                <a:solidFill>
                  <a:srgbClr val="102A39"/>
                </a:solidFill>
                <a:latin typeface="Helvetica Neue"/>
                <a:ea typeface="Helvetica Neue"/>
                <a:cs typeface="Helvetica Neue"/>
              </a:rPr>
              <a:t>What actually changed?</a:t>
            </a:r>
          </a:p>
        </p:txBody>
      </p:sp>
      <p:sp>
        <p:nvSpPr>
          <p:cNvPr id="5" name="">
            <a:extLst xmlns:a="http://schemas.openxmlformats.org/drawingml/2006/main">
              <a:ext uri="{FF2B5EF4-FFF2-40B4-BE49-F238E27FC236}">
                <a16:creationId xmlns:a16="http://schemas.microsoft.com/office/drawing/2014/main" id="{D3565BBE-83CB-4A8A-93E9-2FC6C3E1BC40}"/>
              </a:ext>
            </a:extLst>
          </p:cNvPr>
          <p:cNvSpPr>
            <a:spLocks xmlns:a="http://schemas.openxmlformats.org/drawingml/2006/main" noGrp="1"/>
          </p:cNvSpPr>
          <p:nvPr/>
        </p:nvSpPr>
        <p:spPr>
          <a:xfrm xmlns:a="http://schemas.openxmlformats.org/drawingml/2006/main">
            <a:off x="685800" y="50768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007C78"/>
                </a:solidFill>
                <a:latin typeface="Helvetica Neue"/>
                <a:ea typeface="Helvetica Neue"/>
                <a:cs typeface="Helvetica Neue"/>
              </a:defRPr>
            </a:pPr>
            <a:r>
              <a:rPr sz="2925" b="1">
                <a:solidFill>
                  <a:srgbClr val="007C78"/>
                </a:solidFill>
                <a:latin typeface="Helvetica Neue"/>
                <a:ea typeface="Helvetica Neue"/>
                <a:cs typeface="Helvetica Neue"/>
              </a:rPr>
              <a:t>Can the student obtain a correction?</a:t>
            </a:r>
          </a:p>
        </p:txBody>
      </p:sp>
    </p:spTree>
    <p:extLst>
      <p:ext uri="{BB962C8B-B14F-4D97-AF65-F5344CB8AC3E}">
        <p14:creationId xmlns:p14="http://schemas.microsoft.com/office/powerpoint/2010/main" val="211971316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0D88FC2-669C-4FAE-82EA-4BD35B336E0A}"/>
              </a:ext>
            </a:extLst>
          </p:cNvPr>
          <p:cNvSpPr>
            <a:spLocks xmlns:a="http://schemas.openxmlformats.org/drawingml/2006/main" noGrp="1"/>
          </p:cNvSpPr>
          <p:nvPr/>
        </p:nvSpPr>
        <p:spPr>
          <a:xfrm xmlns:a="http://schemas.openxmlformats.org/drawingml/2006/main">
            <a:off x="685800" y="333375"/>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007C78"/>
                </a:solidFill>
                <a:latin typeface="Helvetica Neue"/>
                <a:ea typeface="Helvetica Neue"/>
                <a:cs typeface="Helvetica Neue"/>
              </a:defRPr>
            </a:pPr>
            <a:r>
              <a:rPr sz="1425" b="1">
                <a:solidFill>
                  <a:srgbClr val="007C78"/>
                </a:solidFill>
                <a:latin typeface="Helvetica Neue"/>
                <a:ea typeface="Helvetica Neue"/>
                <a:cs typeface="Helvetica Neue"/>
              </a:rPr>
              <a:t>PROPOSED EVALUATION</a:t>
            </a:r>
          </a:p>
        </p:txBody>
      </p:sp>
      <p:sp>
        <p:nvSpPr>
          <p:cNvPr id="2" name="">
            <a:extLst xmlns:a="http://schemas.openxmlformats.org/drawingml/2006/main">
              <a:ext uri="{FF2B5EF4-FFF2-40B4-BE49-F238E27FC236}">
                <a16:creationId xmlns:a16="http://schemas.microsoft.com/office/drawing/2014/main" id="{C44204A9-72A3-4F0F-A950-E7EB1999A074}"/>
              </a:ext>
            </a:extLst>
          </p:cNvPr>
          <p:cNvSpPr>
            <a:spLocks xmlns:a="http://schemas.openxmlformats.org/drawingml/2006/main" noGrp="1"/>
          </p:cNvSpPr>
          <p:nvPr/>
        </p:nvSpPr>
        <p:spPr>
          <a:xfrm xmlns:a="http://schemas.openxmlformats.org/drawingml/2006/main">
            <a:off x="685800" y="80962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Testing containment and useful assistance</a:t>
            </a:r>
          </a:p>
        </p:txBody>
      </p:sp>
      <p:graphicFrame>
        <p:nvGraphicFramePr>
          <p:cNvPr id="7" name=""/>
          <p:cNvGraphicFramePr/>
          <p:nvPr/>
        </p:nvGraphicFramePr>
        <p:xfrm>
          <a:off xmlns:a="http://schemas.openxmlformats.org/drawingml/2006/main" x="685800" y="2190750"/>
          <a:ext xmlns:a="http://schemas.openxmlformats.org/drawingml/2006/main" cx="10820400" cy="2867025"/>
        </p:xfrm>
        <a:graphic xmlns:a="http://schemas.openxmlformats.org/drawingml/2006/main">
          <a:graphicData uri="http://schemas.openxmlformats.org/drawingml/2006/table">
            <a:tbl>
              <a:tblPr/>
              <a:tblGrid>
                <a:gridCol w="4829175"/>
                <a:gridCol w="5991225"/>
              </a:tblGrid>
              <a:tr h="716756">
                <a:tc>
                  <a:txBody>
                    <a:bodyPr/>
                    <a:lstStyle/>
                    <a:p>
                      <a:r>
                        <a:rPr sz="1875" b="1">
                          <a:solidFill>
                            <a:srgbClr val="FFFFFF"/>
                          </a:solidFill>
                          <a:latin typeface="Helvetica Neue"/>
                          <a:ea typeface="Helvetica Neue"/>
                          <a:cs typeface="Helvetica Neue"/>
                        </a:rPr>
                        <a:t>Configuration</a:t>
                      </a:r>
                    </a:p>
                  </a:txBody>
                  <a:tcPr marL="152400" marR="152400" marT="114300" marB="95250" anchor="ctr">
                    <a:solidFill>
                      <a:srgbClr val="102A39"/>
                    </a:solidFill>
                  </a:tcPr>
                </a:tc>
                <a:tc>
                  <a:txBody>
                    <a:bodyPr/>
                    <a:lstStyle/>
                    <a:p>
                      <a:r>
                        <a:rPr sz="1875" b="1">
                          <a:solidFill>
                            <a:srgbClr val="FFFFFF"/>
                          </a:solidFill>
                          <a:latin typeface="Helvetica Neue"/>
                          <a:ea typeface="Helvetica Neue"/>
                          <a:cs typeface="Helvetica Neue"/>
                        </a:rPr>
                        <a:t>Purpose</a:t>
                      </a:r>
                    </a:p>
                  </a:txBody>
                  <a:tcPr marL="152400" marR="152400" marT="114300" marB="95250" anchor="ctr">
                    <a:solidFill>
                      <a:srgbClr val="102A39"/>
                    </a:solidFill>
                  </a:tcPr>
                </a:tc>
              </a:tr>
              <a:tr h="716756">
                <a:tc>
                  <a:txBody>
                    <a:bodyPr/>
                    <a:lstStyle/>
                    <a:p>
                      <a:r>
                        <a:rPr sz="2025" b="0">
                          <a:solidFill>
                            <a:srgbClr val="102A39"/>
                          </a:solidFill>
                          <a:latin typeface="Helvetica Neue"/>
                          <a:ea typeface="Helvetica Neue"/>
                          <a:cs typeface="Helvetica Neue"/>
                        </a:rPr>
                        <a:t>Model-only guardrails</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Establish a baseline</a:t>
                      </a:r>
                    </a:p>
                  </a:txBody>
                  <a:tcPr marL="152400" marR="152400" marT="114300" marB="95250" anchor="ctr">
                    <a:solidFill>
                      <a:srgbClr val="F6F5F0"/>
                    </a:solidFill>
                  </a:tcPr>
                </a:tc>
              </a:tr>
              <a:tr h="716756">
                <a:tc>
                  <a:txBody>
                    <a:bodyPr/>
                    <a:lstStyle/>
                    <a:p>
                      <a:r>
                        <a:rPr sz="2025" b="0">
                          <a:solidFill>
                            <a:srgbClr val="102A39"/>
                          </a:solidFill>
                          <a:latin typeface="Helvetica Neue"/>
                          <a:ea typeface="Helvetica Neue"/>
                          <a:cs typeface="Helvetica Neue"/>
                        </a:rPr>
                        <a:t>Full control configuration</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Evaluate the combined controls</a:t>
                      </a:r>
                    </a:p>
                  </a:txBody>
                  <a:tcPr marL="152400" marR="152400" marT="114300" marB="95250" anchor="ctr">
                    <a:solidFill>
                      <a:srgbClr val="F6F5F0"/>
                    </a:solidFill>
                  </a:tcPr>
                </a:tc>
              </a:tr>
              <a:tr h="716756">
                <a:tc>
                  <a:txBody>
                    <a:bodyPr/>
                    <a:lstStyle/>
                    <a:p>
                      <a:r>
                        <a:rPr sz="2025" b="0">
                          <a:solidFill>
                            <a:srgbClr val="102A39"/>
                          </a:solidFill>
                          <a:latin typeface="Helvetica Neue"/>
                          <a:ea typeface="Helvetica Neue"/>
                          <a:cs typeface="Helvetica Neue"/>
                        </a:rPr>
                        <a:t>One control removed at a time</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Examine each control’s contribution</a:t>
                      </a:r>
                    </a:p>
                  </a:txBody>
                  <a:tcPr marL="152400" marR="152400" marT="114300" marB="95250" anchor="ctr">
                    <a:solidFill>
                      <a:srgbClr val="F6F5F0"/>
                    </a:solidFill>
                  </a:tcPr>
                </a:tc>
              </a:tr>
            </a:tbl>
          </a:graphicData>
        </a:graphic>
      </p:graphicFrame>
      <p:sp>
        <p:nvSpPr>
          <p:cNvPr id="4" name="">
            <a:extLst xmlns:a="http://schemas.openxmlformats.org/drawingml/2006/main">
              <a:ext uri="{FF2B5EF4-FFF2-40B4-BE49-F238E27FC236}">
                <a16:creationId xmlns:a16="http://schemas.microsoft.com/office/drawing/2014/main" id="{6B6BB8F9-90CE-4134-B901-BDD538C40138}"/>
              </a:ext>
            </a:extLst>
          </p:cNvPr>
          <p:cNvSpPr>
            <a:spLocks xmlns:a="http://schemas.openxmlformats.org/drawingml/2006/main" noGrp="1"/>
          </p:cNvSpPr>
          <p:nvPr/>
        </p:nvSpPr>
        <p:spPr>
          <a:xfrm xmlns:a="http://schemas.openxmlformats.org/drawingml/2006/main">
            <a:off x="685800" y="5534025"/>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7C78"/>
                </a:solidFill>
                <a:latin typeface="Helvetica Neue"/>
                <a:ea typeface="Helvetica Neue"/>
                <a:cs typeface="Helvetica Neue"/>
              </a:defRPr>
            </a:pPr>
            <a:r>
              <a:rPr sz="2025" b="1">
                <a:solidFill>
                  <a:srgbClr val="007C78"/>
                </a:solidFill>
                <a:latin typeface="Helvetica Neue"/>
                <a:ea typeface="Helvetica Neue"/>
                <a:cs typeface="Helvetica Neue"/>
              </a:rPr>
              <a:t>Measure every configuration for violations, valid task completion,</a:t>
            </a:r>
          </a:p>
          <a:p xmlns:a="http://schemas.openxmlformats.org/drawingml/2006/main">
            <a:pPr>
              <a:defRPr sz="2025" b="1">
                <a:solidFill>
                  <a:srgbClr val="007C78"/>
                </a:solidFill>
                <a:latin typeface="Helvetica Neue"/>
                <a:ea typeface="Helvetica Neue"/>
                <a:cs typeface="Helvetica Neue"/>
              </a:defRPr>
            </a:pPr>
            <a:r>
              <a:rPr sz="2025" b="1">
                <a:solidFill>
                  <a:srgbClr val="007C78"/>
                </a:solidFill>
                <a:latin typeface="Helvetica Neue"/>
                <a:ea typeface="Helvetica Neue"/>
                <a:cs typeface="Helvetica Neue"/>
              </a:rPr>
              <a:t>evidence recovery, and reviewer effort.</a:t>
            </a:r>
          </a:p>
        </p:txBody>
      </p:sp>
    </p:spTree>
    <p:extLst>
      <p:ext uri="{BB962C8B-B14F-4D97-AF65-F5344CB8AC3E}">
        <p14:creationId xmlns:p14="http://schemas.microsoft.com/office/powerpoint/2010/main" val="437787232"/>
      </p:ext>
    </p:extLst>
  </p:cSld>
</p:sld>
</file>

<file path=ppt/slides/slide10.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45A609-639A-43C1-B1C8-5DB488140B4C}"/>
              </a:ext>
            </a:extLst>
          </p:cNvPr>
          <p:cNvSpPr>
            <a:spLocks xmlns:a="http://schemas.openxmlformats.org/drawingml/2006/main" noGrp="1"/>
          </p:cNvSpPr>
          <p:nvPr/>
        </p:nvSpPr>
        <p:spPr>
          <a:xfrm xmlns:a="http://schemas.openxmlformats.org/drawingml/2006/main">
            <a:off x="685800" y="590550"/>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An open testbed for shared capacity</a:t>
            </a:r>
          </a:p>
        </p:txBody>
      </p:sp>
      <p:sp>
        <p:nvSpPr>
          <p:cNvPr id="2" name="">
            <a:extLst xmlns:a="http://schemas.openxmlformats.org/drawingml/2006/main">
              <a:ext uri="{FF2B5EF4-FFF2-40B4-BE49-F238E27FC236}">
                <a16:creationId xmlns:a16="http://schemas.microsoft.com/office/drawing/2014/main" id="{4D094C92-2BF5-4478-A642-350582E00D0A}"/>
              </a:ext>
            </a:extLst>
          </p:cNvPr>
          <p:cNvSpPr>
            <a:spLocks xmlns:a="http://schemas.openxmlformats.org/drawingml/2006/main" noGrp="1"/>
          </p:cNvSpPr>
          <p:nvPr/>
        </p:nvSpPr>
        <p:spPr>
          <a:xfrm xmlns:a="http://schemas.openxmlformats.org/drawingml/2006/main">
            <a:off x="685800" y="214312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07C78"/>
                </a:solidFill>
                <a:latin typeface="Helvetica Neue"/>
                <a:ea typeface="Helvetica Neue"/>
                <a:cs typeface="Helvetica Neue"/>
              </a:defRPr>
            </a:pPr>
            <a:r>
              <a:rPr sz="2100" b="1">
                <a:solidFill>
                  <a:srgbClr val="007C78"/>
                </a:solidFill>
                <a:latin typeface="Helvetica Neue"/>
                <a:ea typeface="Helvetica Neue"/>
                <a:cs typeface="Helvetica Neue"/>
              </a:rPr>
              <a:t>What institutions can reuse</a:t>
            </a:r>
          </a:p>
        </p:txBody>
      </p:sp>
      <p:sp>
        <p:nvSpPr>
          <p:cNvPr id="3" name="">
            <a:extLst xmlns:a="http://schemas.openxmlformats.org/drawingml/2006/main">
              <a:ext uri="{FF2B5EF4-FFF2-40B4-BE49-F238E27FC236}">
                <a16:creationId xmlns:a16="http://schemas.microsoft.com/office/drawing/2014/main" id="{302C28F1-08D2-46EE-8AF8-3CE45AD4227D}"/>
              </a:ext>
            </a:extLst>
          </p:cNvPr>
          <p:cNvSpPr>
            <a:spLocks xmlns:a="http://schemas.openxmlformats.org/drawingml/2006/main" noGrp="1"/>
          </p:cNvSpPr>
          <p:nvPr/>
        </p:nvSpPr>
        <p:spPr>
          <a:xfrm xmlns:a="http://schemas.openxmlformats.org/drawingml/2006/main">
            <a:off x="685800" y="2905125"/>
            <a:ext cx="5219700" cy="243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Control contract</a:t>
            </a:r>
          </a:p>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Synthetic workflow</a:t>
            </a:r>
          </a:p>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Executable failure tests</a:t>
            </a:r>
          </a:p>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Recovery instructions</a:t>
            </a:r>
          </a:p>
        </p:txBody>
      </p:sp>
      <p:sp>
        <p:nvSpPr>
          <p:cNvPr id="4" name="">
            <a:extLst xmlns:a="http://schemas.openxmlformats.org/drawingml/2006/main">
              <a:ext uri="{FF2B5EF4-FFF2-40B4-BE49-F238E27FC236}">
                <a16:creationId xmlns:a16="http://schemas.microsoft.com/office/drawing/2014/main" id="{696F560C-5EB8-430B-AEB8-BC4951AA3397}"/>
              </a:ext>
            </a:extLst>
          </p:cNvPr>
          <p:cNvSpPr>
            <a:spLocks xmlns:a="http://schemas.openxmlformats.org/drawingml/2006/main" noGrp="1"/>
          </p:cNvSpPr>
          <p:nvPr/>
        </p:nvSpPr>
        <p:spPr>
          <a:xfrm xmlns:a="http://schemas.openxmlformats.org/drawingml/2006/main">
            <a:off x="6591300" y="2143125"/>
            <a:ext cx="48863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07C78"/>
                </a:solidFill>
                <a:latin typeface="Helvetica Neue"/>
                <a:ea typeface="Helvetica Neue"/>
                <a:cs typeface="Helvetica Neue"/>
              </a:defRPr>
            </a:pPr>
            <a:r>
              <a:rPr sz="2100" b="1">
                <a:solidFill>
                  <a:srgbClr val="007C78"/>
                </a:solidFill>
                <a:latin typeface="Helvetica Neue"/>
                <a:ea typeface="Helvetica Neue"/>
                <a:cs typeface="Helvetica Neue"/>
              </a:rPr>
              <a:t>Where adoption begins</a:t>
            </a:r>
          </a:p>
        </p:txBody>
      </p:sp>
      <p:sp>
        <p:nvSpPr>
          <p:cNvPr id="5" name="">
            <a:extLst xmlns:a="http://schemas.openxmlformats.org/drawingml/2006/main">
              <a:ext uri="{FF2B5EF4-FFF2-40B4-BE49-F238E27FC236}">
                <a16:creationId xmlns:a16="http://schemas.microsoft.com/office/drawing/2014/main" id="{5033996F-5E67-4D0E-B31D-08874E0E954F}"/>
              </a:ext>
            </a:extLst>
          </p:cNvPr>
          <p:cNvSpPr>
            <a:spLocks xmlns:a="http://schemas.openxmlformats.org/drawingml/2006/main" noGrp="1"/>
          </p:cNvSpPr>
          <p:nvPr/>
        </p:nvSpPr>
        <p:spPr>
          <a:xfrm xmlns:a="http://schemas.openxmlformats.org/drawingml/2006/main">
            <a:off x="6591300" y="2905125"/>
            <a:ext cx="4905375" cy="243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One bounded service</a:t>
            </a:r>
          </a:p>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One accountable owner</a:t>
            </a:r>
          </a:p>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A tested manual fallback</a:t>
            </a:r>
          </a:p>
          <a:p xmlns:a="http://schemas.openxmlformats.org/drawingml/2006/main">
            <a:pPr>
              <a:defRPr sz="2700" b="0">
                <a:solidFill>
                  <a:srgbClr val="102A39"/>
                </a:solidFill>
                <a:latin typeface="Helvetica Neue"/>
                <a:ea typeface="Helvetica Neue"/>
                <a:cs typeface="Helvetica Neue"/>
              </a:defRPr>
            </a:pPr>
            <a:r>
              <a:rPr sz="2700" b="0">
                <a:solidFill>
                  <a:srgbClr val="102A39"/>
                </a:solidFill>
                <a:latin typeface="Helvetica Neue"/>
                <a:ea typeface="Helvetica Neue"/>
                <a:cs typeface="Helvetica Neue"/>
              </a:rPr>
              <a:t>A trained review team</a:t>
            </a:r>
          </a:p>
        </p:txBody>
      </p:sp>
      <p:sp>
        <p:nvSpPr>
          <p:cNvPr id="6" name="">
            <a:extLst xmlns:a="http://schemas.openxmlformats.org/drawingml/2006/main">
              <a:ext uri="{FF2B5EF4-FFF2-40B4-BE49-F238E27FC236}">
                <a16:creationId xmlns:a16="http://schemas.microsoft.com/office/drawing/2014/main" id="{91E44261-EF7A-426C-B3CC-F4F34008029F}"/>
              </a:ext>
            </a:extLst>
          </p:cNvPr>
          <p:cNvSpPr>
            <a:spLocks xmlns:a="http://schemas.openxmlformats.org/drawingml/2006/main" noGrp="1"/>
          </p:cNvSpPr>
          <p:nvPr/>
        </p:nvSpPr>
        <p:spPr>
          <a:xfrm xmlns:a="http://schemas.openxmlformats.org/drawingml/2006/main">
            <a:off x="685800" y="6000750"/>
            <a:ext cx="1082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2636D"/>
                </a:solidFill>
                <a:latin typeface="Helvetica Neue"/>
                <a:ea typeface="Helvetica Neue"/>
                <a:cs typeface="Helvetica Neue"/>
              </a:defRPr>
            </a:pPr>
            <a:r>
              <a:rPr sz="1650" b="0">
                <a:solidFill>
                  <a:srgbClr val="52636D"/>
                </a:solidFill>
                <a:latin typeface="Helvetica Neue"/>
                <a:ea typeface="Helvetica Neue"/>
                <a:cs typeface="Helvetica Neue"/>
              </a:rPr>
              <a:t>GitHub release planned. No public implementation is claimed yet.</a:t>
            </a:r>
          </a:p>
        </p:txBody>
      </p:sp>
    </p:spTree>
    <p:extLst>
      <p:ext uri="{BB962C8B-B14F-4D97-AF65-F5344CB8AC3E}">
        <p14:creationId xmlns:p14="http://schemas.microsoft.com/office/powerpoint/2010/main" val="496481779"/>
      </p:ext>
    </p:extLst>
  </p:cSld>
</p:sld>
</file>

<file path=ppt/slides/slide11.xml><?xml version="1.0" encoding="utf-8"?>
<p:sld xmlns:p="http://schemas.openxmlformats.org/presentationml/2006/main">
  <p:cSld>
    <p:bg>
      <p:bgPr>
        <a:solidFill xmlns:a="http://schemas.openxmlformats.org/drawingml/2006/main">
          <a:srgbClr val="101D2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ED34262-A988-4103-942F-ED702D3E089A}"/>
              </a:ext>
            </a:extLst>
          </p:cNvPr>
          <p:cNvSpPr>
            <a:spLocks xmlns:a="http://schemas.openxmlformats.org/drawingml/2006/main" noGrp="1"/>
          </p:cNvSpPr>
          <p:nvPr/>
        </p:nvSpPr>
        <p:spPr>
          <a:xfrm xmlns:a="http://schemas.openxmlformats.org/drawingml/2006/main">
            <a:off x="685800" y="590550"/>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Helvetica Neue"/>
                <a:ea typeface="Helvetica Neue"/>
                <a:cs typeface="Helvetica Neue"/>
              </a:defRPr>
            </a:pPr>
            <a:r>
              <a:rPr sz="3600" b="1">
                <a:solidFill>
                  <a:srgbClr val="FFFFFF"/>
                </a:solidFill>
                <a:latin typeface="Helvetica Neue"/>
                <a:ea typeface="Helvetica Neue"/>
                <a:cs typeface="Helvetica Neue"/>
              </a:rPr>
              <a:t>A concrete request for your next AI pilot</a:t>
            </a:r>
          </a:p>
        </p:txBody>
      </p:sp>
      <p:sp>
        <p:nvSpPr>
          <p:cNvPr id="2" name="">
            <a:extLst xmlns:a="http://schemas.openxmlformats.org/drawingml/2006/main">
              <a:ext uri="{FF2B5EF4-FFF2-40B4-BE49-F238E27FC236}">
                <a16:creationId xmlns:a16="http://schemas.microsoft.com/office/drawing/2014/main" id="{3BCE36F7-EA84-4585-BC85-51BD7593E275}"/>
              </a:ext>
            </a:extLst>
          </p:cNvPr>
          <p:cNvSpPr>
            <a:spLocks xmlns:a="http://schemas.openxmlformats.org/drawingml/2006/main" noGrp="1"/>
          </p:cNvSpPr>
          <p:nvPr/>
        </p:nvSpPr>
        <p:spPr>
          <a:xfrm xmlns:a="http://schemas.openxmlformats.org/drawingml/2006/main">
            <a:off x="685800" y="220980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1">
                <a:solidFill>
                  <a:srgbClr val="FFFFFF"/>
                </a:solidFill>
                <a:latin typeface="Helvetica Neue"/>
                <a:ea typeface="Helvetica Neue"/>
                <a:cs typeface="Helvetica Neue"/>
              </a:defRPr>
            </a:pPr>
            <a:r>
              <a:rPr sz="3675" b="1">
                <a:solidFill>
                  <a:srgbClr val="FFFFFF"/>
                </a:solidFill>
                <a:latin typeface="Helvetica Neue"/>
                <a:ea typeface="Helvetica Neue"/>
                <a:cs typeface="Helvetica Neue"/>
              </a:rPr>
              <a:t>The action it must refuse</a:t>
            </a:r>
          </a:p>
        </p:txBody>
      </p:sp>
      <p:sp>
        <p:nvSpPr>
          <p:cNvPr id="3" name="">
            <a:extLst xmlns:a="http://schemas.openxmlformats.org/drawingml/2006/main">
              <a:ext uri="{FF2B5EF4-FFF2-40B4-BE49-F238E27FC236}">
                <a16:creationId xmlns:a16="http://schemas.microsoft.com/office/drawing/2014/main" id="{4B414827-5936-4DBA-BF94-F74EA8AF3CC9}"/>
              </a:ext>
            </a:extLst>
          </p:cNvPr>
          <p:cNvSpPr>
            <a:spLocks xmlns:a="http://schemas.openxmlformats.org/drawingml/2006/main" noGrp="1"/>
          </p:cNvSpPr>
          <p:nvPr/>
        </p:nvSpPr>
        <p:spPr>
          <a:xfrm xmlns:a="http://schemas.openxmlformats.org/drawingml/2006/main">
            <a:off x="685800" y="327660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1">
                <a:solidFill>
                  <a:srgbClr val="FFFFFF"/>
                </a:solidFill>
                <a:latin typeface="Helvetica Neue"/>
                <a:ea typeface="Helvetica Neue"/>
                <a:cs typeface="Helvetica Neue"/>
              </a:defRPr>
            </a:pPr>
            <a:r>
              <a:rPr sz="3675" b="1">
                <a:solidFill>
                  <a:srgbClr val="FFFFFF"/>
                </a:solidFill>
                <a:latin typeface="Helvetica Neue"/>
                <a:ea typeface="Helvetica Neue"/>
                <a:cs typeface="Helvetica Neue"/>
              </a:rPr>
              <a:t>The evidence you will retain</a:t>
            </a:r>
          </a:p>
        </p:txBody>
      </p:sp>
      <p:sp>
        <p:nvSpPr>
          <p:cNvPr id="4" name="">
            <a:extLst xmlns:a="http://schemas.openxmlformats.org/drawingml/2006/main">
              <a:ext uri="{FF2B5EF4-FFF2-40B4-BE49-F238E27FC236}">
                <a16:creationId xmlns:a16="http://schemas.microsoft.com/office/drawing/2014/main" id="{2BBFC952-F33A-4F30-BF9B-F72EB11D400B}"/>
              </a:ext>
            </a:extLst>
          </p:cNvPr>
          <p:cNvSpPr>
            <a:spLocks xmlns:a="http://schemas.openxmlformats.org/drawingml/2006/main" noGrp="1"/>
          </p:cNvSpPr>
          <p:nvPr/>
        </p:nvSpPr>
        <p:spPr>
          <a:xfrm xmlns:a="http://schemas.openxmlformats.org/drawingml/2006/main">
            <a:off x="685800" y="43434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7BD8CB"/>
                </a:solidFill>
                <a:latin typeface="Helvetica Neue"/>
                <a:ea typeface="Helvetica Neue"/>
                <a:cs typeface="Helvetica Neue"/>
              </a:defRPr>
            </a:pPr>
            <a:r>
              <a:rPr sz="3375" b="1">
                <a:solidFill>
                  <a:srgbClr val="7BD8CB"/>
                </a:solidFill>
                <a:latin typeface="Helvetica Neue"/>
                <a:ea typeface="Helvetica Neue"/>
                <a:cs typeface="Helvetica Neue"/>
              </a:rPr>
              <a:t>The person who restores the service</a:t>
            </a:r>
          </a:p>
        </p:txBody>
      </p:sp>
    </p:spTree>
    <p:extLst>
      <p:ext uri="{BB962C8B-B14F-4D97-AF65-F5344CB8AC3E}">
        <p14:creationId xmlns:p14="http://schemas.microsoft.com/office/powerpoint/2010/main" val="212125462"/>
      </p:ext>
    </p:extLst>
  </p:cSld>
</p:sld>
</file>

<file path=ppt/slides/slide1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BAA8E2B-04BD-46AF-9FF8-1A461007AAF1}"/>
              </a:ext>
            </a:extLst>
          </p:cNvPr>
          <p:cNvSpPr>
            <a:spLocks xmlns:a="http://schemas.openxmlformats.org/drawingml/2006/main" noGrp="1"/>
          </p:cNvSpPr>
          <p:nvPr/>
        </p:nvSpPr>
        <p:spPr>
          <a:xfrm xmlns:a="http://schemas.openxmlformats.org/drawingml/2006/main">
            <a:off x="685800" y="333375"/>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007C78"/>
                </a:solidFill>
                <a:latin typeface="Helvetica Neue"/>
                <a:ea typeface="Helvetica Neue"/>
                <a:cs typeface="Helvetica Neue"/>
              </a:defRPr>
            </a:pPr>
            <a:r>
              <a:rPr sz="1425" b="1">
                <a:solidFill>
                  <a:srgbClr val="007C78"/>
                </a:solidFill>
                <a:latin typeface="Helvetica Neue"/>
                <a:ea typeface="Helvetica Neue"/>
                <a:cs typeface="Helvetica Neue"/>
              </a:rPr>
              <a:t>TECHNICAL BACKUP</a:t>
            </a:r>
          </a:p>
        </p:txBody>
      </p:sp>
      <p:sp>
        <p:nvSpPr>
          <p:cNvPr id="2" name="">
            <a:extLst xmlns:a="http://schemas.openxmlformats.org/drawingml/2006/main">
              <a:ext uri="{FF2B5EF4-FFF2-40B4-BE49-F238E27FC236}">
                <a16:creationId xmlns:a16="http://schemas.microsoft.com/office/drawing/2014/main" id="{DB04F79C-6267-409C-B43F-6FE8F41148BD}"/>
              </a:ext>
            </a:extLst>
          </p:cNvPr>
          <p:cNvSpPr>
            <a:spLocks xmlns:a="http://schemas.openxmlformats.org/drawingml/2006/main" noGrp="1"/>
          </p:cNvSpPr>
          <p:nvPr/>
        </p:nvSpPr>
        <p:spPr>
          <a:xfrm xmlns:a="http://schemas.openxmlformats.org/drawingml/2006/main">
            <a:off x="685800" y="80962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Trusted components and remaining risks</a:t>
            </a:r>
          </a:p>
        </p:txBody>
      </p:sp>
      <p:graphicFrame>
        <p:nvGraphicFramePr>
          <p:cNvPr id="6" name=""/>
          <p:cNvGraphicFramePr/>
          <p:nvPr/>
        </p:nvGraphicFramePr>
        <p:xfrm>
          <a:off xmlns:a="http://schemas.openxmlformats.org/drawingml/2006/main" x="685800" y="2038350"/>
          <a:ext xmlns:a="http://schemas.openxmlformats.org/drawingml/2006/main" cx="10820400" cy="3505200"/>
        </p:xfrm>
        <a:graphic xmlns:a="http://schemas.openxmlformats.org/drawingml/2006/main">
          <a:graphicData uri="http://schemas.openxmlformats.org/drawingml/2006/table">
            <a:tbl>
              <a:tblPr/>
              <a:tblGrid>
                <a:gridCol w="5353050"/>
                <a:gridCol w="5467350"/>
              </a:tblGrid>
              <a:tr h="701040">
                <a:tc>
                  <a:txBody>
                    <a:bodyPr/>
                    <a:lstStyle/>
                    <a:p>
                      <a:r>
                        <a:rPr sz="1875" b="1">
                          <a:solidFill>
                            <a:srgbClr val="FFFFFF"/>
                          </a:solidFill>
                          <a:latin typeface="Helvetica Neue"/>
                          <a:ea typeface="Helvetica Neue"/>
                          <a:cs typeface="Helvetica Neue"/>
                        </a:rPr>
                        <a:t>Claim scope</a:t>
                      </a:r>
                    </a:p>
                  </a:txBody>
                  <a:tcPr marL="152400" marR="152400" marT="114300" marB="95250" anchor="ctr">
                    <a:solidFill>
                      <a:srgbClr val="102A39"/>
                    </a:solidFill>
                  </a:tcPr>
                </a:tc>
                <a:tc>
                  <a:txBody>
                    <a:bodyPr/>
                    <a:lstStyle/>
                    <a:p>
                      <a:r>
                        <a:rPr sz="1875" b="1">
                          <a:solidFill>
                            <a:srgbClr val="FFFFFF"/>
                          </a:solidFill>
                          <a:latin typeface="Helvetica Neue"/>
                          <a:ea typeface="Helvetica Neue"/>
                          <a:cs typeface="Helvetica Neue"/>
                        </a:rPr>
                        <a:t>Limit to disclose</a:t>
                      </a:r>
                    </a:p>
                  </a:txBody>
                  <a:tcPr marL="152400" marR="152400" marT="114300" marB="95250" anchor="ctr">
                    <a:solidFill>
                      <a:srgbClr val="102A39"/>
                    </a:solidFill>
                  </a:tcPr>
                </a:tc>
              </a:tr>
              <a:tr h="701040">
                <a:tc>
                  <a:txBody>
                    <a:bodyPr/>
                    <a:lstStyle/>
                    <a:p>
                      <a:r>
                        <a:rPr sz="1875" b="0">
                          <a:solidFill>
                            <a:srgbClr val="102A39"/>
                          </a:solidFill>
                          <a:latin typeface="Helvetica Neue"/>
                          <a:ea typeface="Helvetica Neue"/>
                          <a:cs typeface="Helvetica Neue"/>
                        </a:rPr>
                        <a:t>Hostile content or compromised agent</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Requires intact enforcement services</a:t>
                      </a:r>
                    </a:p>
                  </a:txBody>
                  <a:tcPr marL="152400" marR="152400" marT="114300" marB="95250" anchor="ctr">
                    <a:solidFill>
                      <a:srgbClr val="F6F5F0"/>
                    </a:solidFill>
                  </a:tcPr>
                </a:tc>
              </a:tr>
              <a:tr h="701040">
                <a:tc>
                  <a:txBody>
                    <a:bodyPr/>
                    <a:lstStyle/>
                    <a:p>
                      <a:r>
                        <a:rPr sz="1875" b="0">
                          <a:solidFill>
                            <a:srgbClr val="102A39"/>
                          </a:solidFill>
                          <a:latin typeface="Helvetica Neue"/>
                          <a:ea typeface="Helvetica Neue"/>
                          <a:cs typeface="Helvetica Neue"/>
                        </a:rPr>
                        <a:t>Separate application identities</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Shared host administrator can defeat them</a:t>
                      </a:r>
                    </a:p>
                  </a:txBody>
                  <a:tcPr marL="152400" marR="152400" marT="114300" marB="95250" anchor="ctr">
                    <a:solidFill>
                      <a:srgbClr val="F6F5F0"/>
                    </a:solidFill>
                  </a:tcPr>
                </a:tc>
              </a:tr>
              <a:tr h="701040">
                <a:tc>
                  <a:txBody>
                    <a:bodyPr/>
                    <a:lstStyle/>
                    <a:p>
                      <a:r>
                        <a:rPr sz="1875" b="0">
                          <a:solidFill>
                            <a:srgbClr val="102A39"/>
                          </a:solidFill>
                          <a:latin typeface="Helvetica Neue"/>
                          <a:ea typeface="Helvetica Neue"/>
                          <a:cs typeface="Helvetica Neue"/>
                        </a:rPr>
                        <a:t>Authorized, recorded action</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Accuracy and fairness need separate review</a:t>
                      </a:r>
                    </a:p>
                  </a:txBody>
                  <a:tcPr marL="152400" marR="152400" marT="114300" marB="95250" anchor="ctr">
                    <a:solidFill>
                      <a:srgbClr val="F6F5F0"/>
                    </a:solidFill>
                  </a:tcPr>
                </a:tc>
              </a:tr>
              <a:tr h="701040">
                <a:tc>
                  <a:txBody>
                    <a:bodyPr/>
                    <a:lstStyle/>
                    <a:p>
                      <a:r>
                        <a:rPr sz="1875" b="0">
                          <a:solidFill>
                            <a:srgbClr val="102A39"/>
                          </a:solidFill>
                          <a:latin typeface="Helvetica Neue"/>
                          <a:ea typeface="Helvetica Neue"/>
                          <a:cs typeface="Helvetica Neue"/>
                        </a:rPr>
                        <a:t>Recoverable data and decision history</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Disclosure and some effects are irreversible</a:t>
                      </a:r>
                    </a:p>
                  </a:txBody>
                  <a:tcPr marL="152400" marR="152400" marT="114300" marB="95250" anchor="ctr">
                    <a:solidFill>
                      <a:srgbClr val="F6F5F0"/>
                    </a:solidFill>
                  </a:tcPr>
                </a:tc>
              </a:tr>
            </a:tbl>
          </a:graphicData>
        </a:graphic>
      </p:graphicFrame>
    </p:spTree>
    <p:extLst>
      <p:ext uri="{BB962C8B-B14F-4D97-AF65-F5344CB8AC3E}">
        <p14:creationId xmlns:p14="http://schemas.microsoft.com/office/powerpoint/2010/main" val="249973311"/>
      </p:ext>
    </p:extLst>
  </p:cSld>
</p:sld>
</file>

<file path=ppt/slides/slide1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1703A37-26E3-4C6B-A510-C550953D68AD}"/>
              </a:ext>
            </a:extLst>
          </p:cNvPr>
          <p:cNvSpPr>
            <a:spLocks xmlns:a="http://schemas.openxmlformats.org/drawingml/2006/main" noGrp="1"/>
          </p:cNvSpPr>
          <p:nvPr/>
        </p:nvSpPr>
        <p:spPr>
          <a:xfrm xmlns:a="http://schemas.openxmlformats.org/drawingml/2006/main">
            <a:off x="685800" y="333375"/>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007C78"/>
                </a:solidFill>
                <a:latin typeface="Helvetica Neue"/>
                <a:ea typeface="Helvetica Neue"/>
                <a:cs typeface="Helvetica Neue"/>
              </a:defRPr>
            </a:pPr>
            <a:r>
              <a:rPr sz="1425" b="1">
                <a:solidFill>
                  <a:srgbClr val="007C78"/>
                </a:solidFill>
                <a:latin typeface="Helvetica Neue"/>
                <a:ea typeface="Helvetica Neue"/>
                <a:cs typeface="Helvetica Neue"/>
              </a:rPr>
              <a:t>TECHNICAL BACKUP</a:t>
            </a:r>
          </a:p>
        </p:txBody>
      </p:sp>
      <p:sp>
        <p:nvSpPr>
          <p:cNvPr id="2" name="">
            <a:extLst xmlns:a="http://schemas.openxmlformats.org/drawingml/2006/main">
              <a:ext uri="{FF2B5EF4-FFF2-40B4-BE49-F238E27FC236}">
                <a16:creationId xmlns:a16="http://schemas.microsoft.com/office/drawing/2014/main" id="{694957B3-3695-4DAE-B24A-8A04E730FA75}"/>
              </a:ext>
            </a:extLst>
          </p:cNvPr>
          <p:cNvSpPr>
            <a:spLocks xmlns:a="http://schemas.openxmlformats.org/drawingml/2006/main" noGrp="1"/>
          </p:cNvSpPr>
          <p:nvPr/>
        </p:nvSpPr>
        <p:spPr>
          <a:xfrm xmlns:a="http://schemas.openxmlformats.org/drawingml/2006/main">
            <a:off x="685800" y="80962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Deployment profiles carry different assurance</a:t>
            </a:r>
          </a:p>
        </p:txBody>
      </p:sp>
      <p:graphicFrame>
        <p:nvGraphicFramePr>
          <p:cNvPr id="7" name=""/>
          <p:cNvGraphicFramePr/>
          <p:nvPr/>
        </p:nvGraphicFramePr>
        <p:xfrm>
          <a:off xmlns:a="http://schemas.openxmlformats.org/drawingml/2006/main" x="685800" y="2162175"/>
          <a:ext xmlns:a="http://schemas.openxmlformats.org/drawingml/2006/main" cx="10820400" cy="3105150"/>
        </p:xfrm>
        <a:graphic xmlns:a="http://schemas.openxmlformats.org/drawingml/2006/main">
          <a:graphicData uri="http://schemas.openxmlformats.org/drawingml/2006/table">
            <a:tbl>
              <a:tblPr/>
              <a:tblGrid>
                <a:gridCol w="2466975"/>
                <a:gridCol w="4000500"/>
                <a:gridCol w="4352925"/>
              </a:tblGrid>
              <a:tr h="776288">
                <a:tc>
                  <a:txBody>
                    <a:bodyPr/>
                    <a:lstStyle/>
                    <a:p>
                      <a:r>
                        <a:rPr sz="1875" b="1">
                          <a:solidFill>
                            <a:srgbClr val="FFFFFF"/>
                          </a:solidFill>
                          <a:latin typeface="Helvetica Neue"/>
                          <a:ea typeface="Helvetica Neue"/>
                          <a:cs typeface="Helvetica Neue"/>
                        </a:rPr>
                        <a:t>Profile</a:t>
                      </a:r>
                    </a:p>
                  </a:txBody>
                  <a:tcPr marL="152400" marR="152400" marT="114300" marB="95250" anchor="ctr">
                    <a:solidFill>
                      <a:srgbClr val="102A39"/>
                    </a:solidFill>
                  </a:tcPr>
                </a:tc>
                <a:tc>
                  <a:txBody>
                    <a:bodyPr/>
                    <a:lstStyle/>
                    <a:p>
                      <a:r>
                        <a:rPr sz="1875" b="1">
                          <a:solidFill>
                            <a:srgbClr val="FFFFFF"/>
                          </a:solidFill>
                          <a:latin typeface="Helvetica Neue"/>
                          <a:ea typeface="Helvetica Neue"/>
                          <a:cs typeface="Helvetica Neue"/>
                        </a:rPr>
                        <a:t>Purpose</a:t>
                      </a:r>
                    </a:p>
                  </a:txBody>
                  <a:tcPr marL="152400" marR="152400" marT="114300" marB="95250" anchor="ctr">
                    <a:solidFill>
                      <a:srgbClr val="102A39"/>
                    </a:solidFill>
                  </a:tcPr>
                </a:tc>
                <a:tc>
                  <a:txBody>
                    <a:bodyPr/>
                    <a:lstStyle/>
                    <a:p>
                      <a:r>
                        <a:rPr sz="1875" b="1">
                          <a:solidFill>
                            <a:srgbClr val="FFFFFF"/>
                          </a:solidFill>
                          <a:latin typeface="Helvetica Neue"/>
                          <a:ea typeface="Helvetica Neue"/>
                          <a:cs typeface="Helvetica Neue"/>
                        </a:rPr>
                        <a:t>Required disclosure</a:t>
                      </a:r>
                    </a:p>
                  </a:txBody>
                  <a:tcPr marL="152400" marR="152400" marT="114300" marB="95250" anchor="ctr">
                    <a:solidFill>
                      <a:srgbClr val="102A39"/>
                    </a:solidFill>
                  </a:tcPr>
                </a:tc>
              </a:tr>
              <a:tr h="776288">
                <a:tc>
                  <a:txBody>
                    <a:bodyPr/>
                    <a:lstStyle/>
                    <a:p>
                      <a:r>
                        <a:rPr sz="1875" b="0">
                          <a:solidFill>
                            <a:srgbClr val="102A39"/>
                          </a:solidFill>
                          <a:latin typeface="Helvetica Neue"/>
                          <a:ea typeface="Helvetica Neue"/>
                          <a:cs typeface="Helvetica Neue"/>
                        </a:rPr>
                        <a:t>Teaching</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Explain and test the contract</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Shared-host trust</a:t>
                      </a:r>
                    </a:p>
                  </a:txBody>
                  <a:tcPr marL="152400" marR="152400" marT="114300" marB="95250" anchor="ctr">
                    <a:solidFill>
                      <a:srgbClr val="F6F5F0"/>
                    </a:solidFill>
                  </a:tcPr>
                </a:tc>
              </a:tr>
              <a:tr h="776288">
                <a:tc>
                  <a:txBody>
                    <a:bodyPr/>
                    <a:lstStyle/>
                    <a:p>
                      <a:r>
                        <a:rPr sz="1875" b="0">
                          <a:solidFill>
                            <a:srgbClr val="102A39"/>
                          </a:solidFill>
                          <a:latin typeface="Helvetica Neue"/>
                          <a:ea typeface="Helvetica Neue"/>
                          <a:cs typeface="Helvetica Neue"/>
                        </a:rPr>
                        <a:t>Institutional pilot</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Operate one bounded service</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Control and evidence custody</a:t>
                      </a:r>
                    </a:p>
                  </a:txBody>
                  <a:tcPr marL="152400" marR="152400" marT="114300" marB="95250" anchor="ctr">
                    <a:solidFill>
                      <a:srgbClr val="F6F5F0"/>
                    </a:solidFill>
                  </a:tcPr>
                </a:tc>
              </a:tr>
              <a:tr h="776288">
                <a:tc>
                  <a:txBody>
                    <a:bodyPr/>
                    <a:lstStyle/>
                    <a:p>
                      <a:r>
                        <a:rPr sz="1875" b="0">
                          <a:solidFill>
                            <a:srgbClr val="102A39"/>
                          </a:solidFill>
                          <a:latin typeface="Helvetica Neue"/>
                          <a:ea typeface="Helvetica Neue"/>
                          <a:cs typeface="Helvetica Neue"/>
                        </a:rPr>
                        <a:t>Hardware-isolated</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Constrain a specified import link</a:t>
                      </a:r>
                    </a:p>
                  </a:txBody>
                  <a:tcPr marL="152400" marR="152400" marT="114300" marB="95250" anchor="ctr">
                    <a:solidFill>
                      <a:srgbClr val="F6F5F0"/>
                    </a:solidFill>
                  </a:tcPr>
                </a:tc>
                <a:tc>
                  <a:txBody>
                    <a:bodyPr/>
                    <a:lstStyle/>
                    <a:p>
                      <a:r>
                        <a:rPr sz="1875" b="0">
                          <a:solidFill>
                            <a:srgbClr val="102A39"/>
                          </a:solidFill>
                          <a:latin typeface="Helvetica Neue"/>
                          <a:ea typeface="Helvetica Neue"/>
                          <a:cs typeface="Helvetica Neue"/>
                        </a:rPr>
                        <a:t>Other interfaces and maintenance</a:t>
                      </a:r>
                    </a:p>
                  </a:txBody>
                  <a:tcPr marL="152400" marR="152400" marT="114300" marB="95250" anchor="ctr">
                    <a:solidFill>
                      <a:srgbClr val="F6F5F0"/>
                    </a:solidFill>
                  </a:tcPr>
                </a:tc>
              </a:tr>
            </a:tbl>
          </a:graphicData>
        </a:graphic>
      </p:graphicFrame>
      <p:sp>
        <p:nvSpPr>
          <p:cNvPr id="4" name="">
            <a:extLst xmlns:a="http://schemas.openxmlformats.org/drawingml/2006/main">
              <a:ext uri="{FF2B5EF4-FFF2-40B4-BE49-F238E27FC236}">
                <a16:creationId xmlns:a16="http://schemas.microsoft.com/office/drawing/2014/main" id="{065A90F0-E1F0-4F9A-818B-2F22EEF1E600}"/>
              </a:ext>
            </a:extLst>
          </p:cNvPr>
          <p:cNvSpPr>
            <a:spLocks xmlns:a="http://schemas.openxmlformats.org/drawingml/2006/main" noGrp="1"/>
          </p:cNvSpPr>
          <p:nvPr/>
        </p:nvSpPr>
        <p:spPr>
          <a:xfrm xmlns:a="http://schemas.openxmlformats.org/drawingml/2006/main">
            <a:off x="685800" y="5743575"/>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7C78"/>
                </a:solidFill>
                <a:latin typeface="Helvetica Neue"/>
                <a:ea typeface="Helvetica Neue"/>
                <a:cs typeface="Helvetica Neue"/>
              </a:defRPr>
            </a:pPr>
            <a:r>
              <a:rPr sz="2250" b="1">
                <a:solidFill>
                  <a:srgbClr val="007C78"/>
                </a:solidFill>
                <a:latin typeface="Helvetica Neue"/>
                <a:ea typeface="Helvetica Neue"/>
                <a:cs typeface="Helvetica Neue"/>
              </a:rPr>
              <a:t>The profile defines the claim. The tests must match the profile.</a:t>
            </a:r>
          </a:p>
        </p:txBody>
      </p:sp>
    </p:spTree>
    <p:extLst>
      <p:ext uri="{BB962C8B-B14F-4D97-AF65-F5344CB8AC3E}">
        <p14:creationId xmlns:p14="http://schemas.microsoft.com/office/powerpoint/2010/main" val="1176427656"/>
      </p:ext>
    </p:extLst>
  </p:cSld>
</p:sld>
</file>

<file path=ppt/slides/slide1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55012F3-2D27-4CE0-8E9E-FE617256A6D7}"/>
              </a:ext>
            </a:extLst>
          </p:cNvPr>
          <p:cNvSpPr>
            <a:spLocks xmlns:a="http://schemas.openxmlformats.org/drawingml/2006/main" noGrp="1"/>
          </p:cNvSpPr>
          <p:nvPr/>
        </p:nvSpPr>
        <p:spPr>
          <a:xfrm xmlns:a="http://schemas.openxmlformats.org/drawingml/2006/main">
            <a:off x="685800" y="333375"/>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007C78"/>
                </a:solidFill>
                <a:latin typeface="Helvetica Neue"/>
                <a:ea typeface="Helvetica Neue"/>
                <a:cs typeface="Helvetica Neue"/>
              </a:defRPr>
            </a:pPr>
            <a:r>
              <a:rPr sz="1425" b="1">
                <a:solidFill>
                  <a:srgbClr val="007C78"/>
                </a:solidFill>
                <a:latin typeface="Helvetica Neue"/>
                <a:ea typeface="Helvetica Neue"/>
                <a:cs typeface="Helvetica Neue"/>
              </a:rPr>
              <a:t>TECHNICAL BACKUP</a:t>
            </a:r>
          </a:p>
        </p:txBody>
      </p:sp>
      <p:sp>
        <p:nvSpPr>
          <p:cNvPr id="2" name="">
            <a:extLst xmlns:a="http://schemas.openxmlformats.org/drawingml/2006/main">
              <a:ext uri="{FF2B5EF4-FFF2-40B4-BE49-F238E27FC236}">
                <a16:creationId xmlns:a16="http://schemas.microsoft.com/office/drawing/2014/main" id="{66379C14-72EE-4038-A8AF-F0F5A837CF0B}"/>
              </a:ext>
            </a:extLst>
          </p:cNvPr>
          <p:cNvSpPr>
            <a:spLocks xmlns:a="http://schemas.openxmlformats.org/drawingml/2006/main" noGrp="1"/>
          </p:cNvSpPr>
          <p:nvPr/>
        </p:nvSpPr>
        <p:spPr>
          <a:xfrm xmlns:a="http://schemas.openxmlformats.org/drawingml/2006/main">
            <a:off x="685800" y="80962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02A39"/>
                </a:solidFill>
                <a:latin typeface="Helvetica Neue"/>
                <a:ea typeface="Helvetica Neue"/>
                <a:cs typeface="Helvetica Neue"/>
              </a:defRPr>
            </a:pPr>
            <a:r>
              <a:rPr sz="3600" b="1">
                <a:solidFill>
                  <a:srgbClr val="102A39"/>
                </a:solidFill>
                <a:latin typeface="Helvetica Neue"/>
                <a:ea typeface="Helvetica Neue"/>
                <a:cs typeface="Helvetica Neue"/>
              </a:rPr>
              <a:t>Positioning within existing work</a:t>
            </a:r>
          </a:p>
        </p:txBody>
      </p:sp>
      <p:graphicFrame>
        <p:nvGraphicFramePr>
          <p:cNvPr id="7" name=""/>
          <p:cNvGraphicFramePr/>
          <p:nvPr/>
        </p:nvGraphicFramePr>
        <p:xfrm>
          <a:off xmlns:a="http://schemas.openxmlformats.org/drawingml/2006/main" x="685800" y="2190750"/>
          <a:ext xmlns:a="http://schemas.openxmlformats.org/drawingml/2006/main" cx="10820400" cy="3048000"/>
        </p:xfrm>
        <a:graphic xmlns:a="http://schemas.openxmlformats.org/drawingml/2006/main">
          <a:graphicData uri="http://schemas.openxmlformats.org/drawingml/2006/table">
            <a:tbl>
              <a:tblPr/>
              <a:tblGrid>
                <a:gridCol w="5267325"/>
                <a:gridCol w="5553075"/>
              </a:tblGrid>
              <a:tr h="762000">
                <a:tc>
                  <a:txBody>
                    <a:bodyPr/>
                    <a:lstStyle/>
                    <a:p>
                      <a:r>
                        <a:rPr sz="1875" b="1">
                          <a:solidFill>
                            <a:srgbClr val="FFFFFF"/>
                          </a:solidFill>
                          <a:latin typeface="Helvetica Neue"/>
                          <a:ea typeface="Helvetica Neue"/>
                          <a:cs typeface="Helvetica Neue"/>
                        </a:rPr>
                        <a:t>Established foundation</a:t>
                      </a:r>
                    </a:p>
                  </a:txBody>
                  <a:tcPr marL="152400" marR="152400" marT="114300" marB="95250" anchor="ctr">
                    <a:solidFill>
                      <a:srgbClr val="102A39"/>
                    </a:solidFill>
                  </a:tcPr>
                </a:tc>
                <a:tc>
                  <a:txBody>
                    <a:bodyPr/>
                    <a:lstStyle/>
                    <a:p>
                      <a:r>
                        <a:rPr sz="1875" b="1">
                          <a:solidFill>
                            <a:srgbClr val="FFFFFF"/>
                          </a:solidFill>
                          <a:latin typeface="Helvetica Neue"/>
                          <a:ea typeface="Helvetica Neue"/>
                          <a:cs typeface="Helvetica Neue"/>
                        </a:rPr>
                        <a:t>Proposed contribution</a:t>
                      </a:r>
                    </a:p>
                  </a:txBody>
                  <a:tcPr marL="152400" marR="152400" marT="114300" marB="95250" anchor="ctr">
                    <a:solidFill>
                      <a:srgbClr val="102A39"/>
                    </a:solidFill>
                  </a:tcPr>
                </a:tc>
              </a:tr>
              <a:tr h="762000">
                <a:tc>
                  <a:txBody>
                    <a:bodyPr/>
                    <a:lstStyle/>
                    <a:p>
                      <a:r>
                        <a:rPr sz="2025" b="0">
                          <a:solidFill>
                            <a:srgbClr val="102A39"/>
                          </a:solidFill>
                          <a:latin typeface="Helvetica Neue"/>
                          <a:ea typeface="Helvetica Neue"/>
                          <a:cs typeface="Helvetica Neue"/>
                        </a:rPr>
                        <a:t>NIST risk and authorization guidance</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Education-specific control contract</a:t>
                      </a:r>
                    </a:p>
                  </a:txBody>
                  <a:tcPr marL="152400" marR="152400" marT="114300" marB="95250" anchor="ctr">
                    <a:solidFill>
                      <a:srgbClr val="F6F5F0"/>
                    </a:solidFill>
                  </a:tcPr>
                </a:tc>
              </a:tr>
              <a:tr h="762000">
                <a:tc>
                  <a:txBody>
                    <a:bodyPr/>
                    <a:lstStyle/>
                    <a:p>
                      <a:r>
                        <a:rPr sz="2025" b="0">
                          <a:solidFill>
                            <a:srgbClr val="102A39"/>
                          </a:solidFill>
                          <a:latin typeface="Helvetica Neue"/>
                          <a:ea typeface="Helvetica Neue"/>
                          <a:cs typeface="Helvetica Neue"/>
                        </a:rPr>
                        <a:t>OWASP agentic risk guidance</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Reproducible attacks and fault tests</a:t>
                      </a:r>
                    </a:p>
                  </a:txBody>
                  <a:tcPr marL="152400" marR="152400" marT="114300" marB="95250" anchor="ctr">
                    <a:solidFill>
                      <a:srgbClr val="F6F5F0"/>
                    </a:solidFill>
                  </a:tcPr>
                </a:tc>
              </a:tr>
              <a:tr h="762000">
                <a:tc>
                  <a:txBody>
                    <a:bodyPr/>
                    <a:lstStyle/>
                    <a:p>
                      <a:r>
                        <a:rPr sz="2025" b="0">
                          <a:solidFill>
                            <a:srgbClr val="102A39"/>
                          </a:solidFill>
                          <a:latin typeface="Helvetica Neue"/>
                          <a:ea typeface="Helvetica Neue"/>
                          <a:cs typeface="Helvetica Neue"/>
                        </a:rPr>
                        <a:t>Portable runtime controls such as ACS</a:t>
                      </a:r>
                    </a:p>
                  </a:txBody>
                  <a:tcPr marL="152400" marR="152400" marT="114300" marB="95250" anchor="ctr">
                    <a:solidFill>
                      <a:srgbClr val="F6F5F0"/>
                    </a:solidFill>
                  </a:tcPr>
                </a:tc>
                <a:tc>
                  <a:txBody>
                    <a:bodyPr/>
                    <a:lstStyle/>
                    <a:p>
                      <a:r>
                        <a:rPr sz="2025" b="0">
                          <a:solidFill>
                            <a:srgbClr val="102A39"/>
                          </a:solidFill>
                          <a:latin typeface="Helvetica Neue"/>
                          <a:ea typeface="Helvetica Neue"/>
                          <a:cs typeface="Helvetica Neue"/>
                        </a:rPr>
                        <a:t>Evidence, review, and recovery integration</a:t>
                      </a:r>
                    </a:p>
                  </a:txBody>
                  <a:tcPr marL="152400" marR="152400" marT="114300" marB="95250" anchor="ctr">
                    <a:solidFill>
                      <a:srgbClr val="F6F5F0"/>
                    </a:solidFill>
                  </a:tcPr>
                </a:tc>
              </a:tr>
            </a:tbl>
          </a:graphicData>
        </a:graphic>
      </p:graphicFrame>
      <p:sp>
        <p:nvSpPr>
          <p:cNvPr id="4" name="">
            <a:extLst xmlns:a="http://schemas.openxmlformats.org/drawingml/2006/main">
              <a:ext uri="{FF2B5EF4-FFF2-40B4-BE49-F238E27FC236}">
                <a16:creationId xmlns:a16="http://schemas.microsoft.com/office/drawing/2014/main" id="{7781E09B-AF9F-4EFA-8B3E-74D92A5EBDC2}"/>
              </a:ext>
            </a:extLst>
          </p:cNvPr>
          <p:cNvSpPr>
            <a:spLocks xmlns:a="http://schemas.openxmlformats.org/drawingml/2006/main" noGrp="1"/>
          </p:cNvSpPr>
          <p:nvPr/>
        </p:nvSpPr>
        <p:spPr>
          <a:xfrm xmlns:a="http://schemas.openxmlformats.org/drawingml/2006/main">
            <a:off x="685800" y="576262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007C78"/>
                </a:solidFill>
                <a:latin typeface="Helvetica Neue"/>
                <a:ea typeface="Helvetica Neue"/>
                <a:cs typeface="Helvetica Neue"/>
              </a:defRPr>
            </a:pPr>
            <a:r>
              <a:rPr sz="1950" b="1">
                <a:solidFill>
                  <a:srgbClr val="007C78"/>
                </a:solidFill>
                <a:latin typeface="Helvetica Neue"/>
                <a:ea typeface="Helvetica Neue"/>
                <a:cs typeface="Helvetica Neue"/>
              </a:rPr>
              <a:t>Contribution type: architecture integration and an evaluation protocol.</a:t>
            </a:r>
          </a:p>
        </p:txBody>
      </p:sp>
    </p:spTree>
    <p:extLst>
      <p:ext uri="{BB962C8B-B14F-4D97-AF65-F5344CB8AC3E}">
        <p14:creationId xmlns:p14="http://schemas.microsoft.com/office/powerpoint/2010/main" val="14286927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2026-09-09T13:30:40.9730000Z</dcterms:created>
  <dcterms:modified xsi:type="dcterms:W3CDTF">2026-09-09T13:30:40.9730000Z</dcterms:modified>
</coreProperties>
</file>